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6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Share of total assets</c:v>
          </c:tx>
          <c:spPr>
            <a:solidFill>
              <a:srgbClr val="2A618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152C43"/>
                    </a:solidFill>
                    <a:latin typeface="Nimbus Sans"/>
                    <a:ea typeface="Nimbus Sans"/>
                    <a:cs typeface="Nimbus San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Net loans and leases</c:v>
                </c:pt>
                <c:pt idx="1">
                  <c:v>Securities</c:v>
                </c:pt>
                <c:pt idx="2">
                  <c:v>Other assets¹</c:v>
                </c:pt>
                <c:pt idx="3">
                  <c:v>Cash and balances due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0.52480598999999994</c:v>
                </c:pt>
                <c:pt idx="1">
                  <c:v>0.22615755000000001</c:v>
                </c:pt>
                <c:pt idx="2">
                  <c:v>0.1471855</c:v>
                </c:pt>
                <c:pt idx="3">
                  <c:v>0.10185096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6A0-DB45-92AE-ED3F9FE472F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6668">
              <a:solidFill>
                <a:srgbClr val="DFE6ED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Share of total assets</c:v>
          </c:tx>
          <c:spPr>
            <a:solidFill>
              <a:srgbClr val="167F8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152C43"/>
                    </a:solidFill>
                    <a:latin typeface="Nimbus Sans"/>
                    <a:ea typeface="Nimbus Sans"/>
                    <a:cs typeface="Nimbus San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Deposits</c:v>
                </c:pt>
                <c:pt idx="1">
                  <c:v>Total equity capital</c:v>
                </c:pt>
                <c:pt idx="2">
                  <c:v>Borrowed funds¹</c:v>
                </c:pt>
                <c:pt idx="3">
                  <c:v>Other liabilities²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0.79491286999999999</c:v>
                </c:pt>
                <c:pt idx="1">
                  <c:v>0.10288518000000001</c:v>
                </c:pt>
                <c:pt idx="2">
                  <c:v>6.5158549999999996E-2</c:v>
                </c:pt>
                <c:pt idx="3">
                  <c:v>3.7043399999999997E-2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42F-5948-8005-0A3586A394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6668">
              <a:solidFill>
                <a:srgbClr val="DFE6ED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Share of institutions</c:v>
          </c:tx>
          <c:spPr>
            <a:solidFill>
              <a:srgbClr val="2A618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latin typeface="Nimbus Sans"/>
                    <a:ea typeface="Nimbus Sans"/>
                    <a:cs typeface="Nimbus San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&lt; $1bn</c:v>
                </c:pt>
                <c:pt idx="1">
                  <c:v>$1bn to &lt; $10bn</c:v>
                </c:pt>
                <c:pt idx="2">
                  <c:v>At least $10bn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0.75749193000000004</c:v>
                </c:pt>
                <c:pt idx="1">
                  <c:v>0.20746887999999999</c:v>
                </c:pt>
                <c:pt idx="2">
                  <c:v>3.5039189999999998E-2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838-4A4D-BED0-783FEFDF1B65}"/>
            </c:ext>
          </c:extLst>
        </c:ser>
        <c:ser>
          <c:idx val="1"/>
          <c:order val="1"/>
          <c:tx>
            <c:v>Share of assets</c:v>
          </c:tx>
          <c:spPr>
            <a:solidFill>
              <a:srgbClr val="167F8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 b="1">
                    <a:latin typeface="Nimbus Sans"/>
                    <a:ea typeface="Nimbus Sans"/>
                    <a:cs typeface="Nimbus San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&lt; $1bn</c:v>
                </c:pt>
                <c:pt idx="1">
                  <c:v>$1bn to &lt; $10bn</c:v>
                </c:pt>
                <c:pt idx="2">
                  <c:v>At least $10bn</c:v>
                </c:pt>
              </c:strCache>
            </c:strRef>
          </c:cat>
          <c:val>
            <c:numRef>
              <c:f>'Chart Data'!$D$2:$D$4</c:f>
              <c:numCache>
                <c:formatCode>0.0%</c:formatCode>
                <c:ptCount val="3"/>
                <c:pt idx="0">
                  <c:v>4.2786459999999998E-2</c:v>
                </c:pt>
                <c:pt idx="1">
                  <c:v>0.10071104</c:v>
                </c:pt>
                <c:pt idx="2">
                  <c:v>0.85650250000000006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838-4A4D-BED0-783FEFDF1B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668">
              <a:solidFill>
                <a:srgbClr val="E1E7EE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ko-KR"/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1575">
              <a:latin typeface="Nimbus Sans"/>
              <a:ea typeface="Nimbus Sans"/>
              <a:cs typeface="Nimbus Sans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assignment concerns insured commercial banks and savings institutions at 2025Q4. The household-sector files in the repository are a demonstration project, not the target population.</a:t>
            </a:r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  <a:p>
            <a:r>
              <a:t>https://github.com/kookguk/CAU_Investment_Theory/blob/c16cdd2dad91e306b07e06414cb0d5fb113ca607/US_Household_Balance_Sheet_2026Q1/%EA%B3%BC%EC%A0%9C%20%EA%B3%B5%EC%A7%80.md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  <a:p>
            <a:r>
              <a:t>https://github.com/kookguk/CAU_Investment_Theory/blob/c16cdd2dad91e306b07e06414cb0d5fb113ca607/US_Household_Balance_Sheet_2026Q1/fdic_2025q4_run_metadata.json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  <a:p>
            <a:r>
              <a:t>https://github.com/kookguk/CAU_Investment_Theory/blob/c16cdd2dad91e306b07e06414cb0d5fb113ca607/US_Household_Balance_Sheet_2026Q1/fdic_2025q4_run_metadata.json</a:t>
            </a:r>
          </a:p>
          <a:p>
            <a:r>
              <a:t>https://api.fdic.gov/banks/docs/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  <a:p>
            <a:r>
              <a:t>https://github.com/kookguk/CAU_Investment_Theory/blob/c16cdd2dad91e306b07e06414cb0d5fb113ca607/US_Household_Balance_Sheet_2026Q1/fdic_2025q4_run_metadata.json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  <a:p>
            <a:r>
              <a:t>https://api.fdic.gov/banks/docs/risview_properties.yaml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  <a:p>
            <a:r>
              <a:t>https://github.com/kookguk/CAU_Investment_Theory/blob/c16cdd2dad91e306b07e06414cb0d5fb113ca607/US_Household_Balance_Sheet_2026Q1/fdic_2025q4_run_metadata.json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  <a:p>
            <a:r>
              <a:t>https://github.com/kookguk/CAU_Investment_Theory/blob/c16cdd2dad91e306b07e06414cb0d5fb113ca607/US_Household_Balance_Sheet_2026Q1/fdic_2025q4_institution_financials.csv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Verification reran validate_and_enrich() and aggregate() on the repository institution CSV. The computed aggregate rows match the stored aggregate CSV. EQ differs from EQTOT for 96 records.</a:t>
            </a:r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  <a:p>
            <a:r>
              <a:t>https://github.com/kookguk/CAU_Investment_Theory/blob/c16cdd2dad91e306b07e06414cb0d5fb113ca607/US_Household_Balance_Sheet_2026Q1/fdic_2025q4_institution_financials.csv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  <a:p>
            <a:r>
              <a:t>https://github.com/kookguk/CAU_Investment_Theory/blob/c16cdd2dad91e306b07e06414cb0d5fb113ca607/US_Household_Balance_Sheet_2026Q1/fdic_2025q4_run_metadata.json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https://github.com/kookguk/CAU_Investment_Theory/blob/c16cdd2dad91e306b07e06414cb0d5fb113ca607/US_Household_Balance_Sheet_2026Q1/fdic_2025q4_institution_financials.csv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https://github.com/kookguk/CAU_Investment_Theory/blob/c16cdd2dad91e306b07e06414cb0d5fb113ca607/US_Household_Balance_Sheet_2026Q1/fdic_2025q4_institution_financials.csv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https://github.com/kookguk/CAU_Investment_Theory/blob/c16cdd2dad91e306b07e06414cb0d5fb113ca607/US_Household_Balance_Sheet_2026Q1/fdic_2025q4_run_metadata.json</a:t>
            </a:r>
          </a:p>
          <a:p>
            <a:r>
              <a:t>https://content.govdelivery.com/accounts/USFDIC/bulletins/40b2c3e</a:t>
            </a:r>
          </a:p>
          <a:p>
            <a:r>
              <a:t>https://github.com/kookguk/CAU_Investment_Theory/blob/c16cdd2dad91e306b07e06414cb0d5fb113ca607/US_Household_Balance_Sheet_2026Q1/20206449_FDIC_2025Q4.py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Sources:</a:t>
            </a:r>
          </a:p>
          <a:p>
            <a:r>
              <a:t>https://github.com/kookguk/CAU_Investment_Theory/blob/c16cdd2dad91e306b07e06414cb0d5fb113ca607/US_Household_Balance_Sheet_2026Q1/fdic_2025q4_aggregate_balance_sheet.csv</a:t>
            </a:r>
          </a:p>
          <a:p>
            <a:r>
              <a:t>https://github.com/kookguk/CAU_Investment_Theory/blob/c16cdd2dad91e306b07e06414cb0d5fb113ca607/US_Household_Balance_Sheet_2026Q1/fdic_2025q4_institution_financials.csv</a:t>
            </a:r>
          </a:p>
          <a:p>
            <a:r>
              <a:t>https://github.com/kookguk/CAU_Investment_Theory/blob/c16cdd2dad91e306b07e06414cb0d5fb113ca607/US_Household_Balance_Sheet_2026Q1/fdic_2025q4_run_metadata.json</a:t>
            </a:r>
          </a:p>
          <a:p>
            <a:r>
              <a:t>https://api.fdic.gov/banks/docs/</a:t>
            </a:r>
          </a:p>
          <a:p>
            <a:r>
              <a:t>https://api.fdic.gov/banks/docs/risview_properties.yaml</a:t>
            </a:r>
          </a:p>
          <a:p>
            <a:r>
              <a:t>https://content.govdelivery.com/accounts/USFDIC/bulletins/40b2c3e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C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3038E0F-140E-4CAE-828E-2645764E8865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1047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FDIC-Insured Institutions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471C01-C518-48EC-A6B0-2FB0E9AD590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0477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Aggregate Balance Sheet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72292B-0362-4379-A79A-51B8A1E76379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10191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0">
                <a:solidFill>
                  <a:srgbClr val="B5D6E6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 dirty="0">
                <a:solidFill>
                  <a:srgbClr val="B5D6E6"/>
                </a:solidFill>
                <a:latin typeface="Nimbus Sans"/>
                <a:ea typeface="Nimbus Sans"/>
                <a:cs typeface="Nimbus Sans"/>
              </a:rPr>
              <a:t>December 31, 2025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C47D0F9-232B-4855-B112-C316F3DDA295}"/>
              </a:ext>
            </a:extLst>
          </p:cNvPr>
          <p:cNvSpPr>
            <a:spLocks noGrp="1"/>
          </p:cNvSpPr>
          <p:nvPr/>
        </p:nvSpPr>
        <p:spPr>
          <a:xfrm>
            <a:off x="723900" y="5066394"/>
            <a:ext cx="95250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Investment Theory</a:t>
            </a:r>
          </a:p>
          <a:p>
            <a:pPr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Student ID: 20206449</a:t>
            </a:r>
            <a:endParaRPr lang="en-US" sz="1875" b="0" dirty="0">
              <a:solidFill>
                <a:srgbClr val="FFFFFF"/>
              </a:solidFill>
              <a:latin typeface="Nimbus Sans"/>
              <a:ea typeface="Nimbus Sans"/>
              <a:cs typeface="Nimbus Sans"/>
            </a:endParaRPr>
          </a:p>
          <a:p>
            <a:pPr>
              <a:defRPr sz="18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1875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Student Name: Junho Kook</a:t>
            </a:r>
            <a:endParaRPr sz="1875" b="0" dirty="0">
              <a:solidFill>
                <a:srgbClr val="FFFFFF"/>
              </a:solidFill>
              <a:latin typeface="Nimbus Sans"/>
              <a:ea typeface="Nimbus Sans"/>
              <a:cs typeface="Nimbus Sans"/>
            </a:endParaRPr>
          </a:p>
        </p:txBody>
      </p:sp>
    </p:spTree>
    <p:extLst>
      <p:ext uri="{BB962C8B-B14F-4D97-AF65-F5344CB8AC3E}">
        <p14:creationId xmlns:p14="http://schemas.microsoft.com/office/powerpoint/2010/main" val="16848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8F597D4-EC72-400C-80F5-161062A9B1F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Scope and data snapshot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CC09A91-F973-42D7-A8C8-D852E0F970A6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FDIC BankFind Suite API, financials endpoint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B71B3F-5CE8-4F8A-91D2-BA924CF4DFC4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graphicFrame>
        <p:nvGraphicFramePr>
          <p:cNvPr id="9" name="표 8"/>
          <p:cNvGraphicFramePr/>
          <p:nvPr/>
        </p:nvGraphicFramePr>
        <p:xfrm>
          <a:off x="628650" y="1714500"/>
          <a:ext cx="10934700" cy="3533775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Item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Scope used in the program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Reporting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December 31,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Population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FDIC-insured commercial banks and savings institutions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Retrieved observations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4,338 institutions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Retrieval date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September 21, 2026 (UTC)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Raw monetary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Thousands of U.S. dollars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Presentation unit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Billions of U.S. dollars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5AA05F9-49D9-4C39-8A0A-383C6C799CE1}"/>
              </a:ext>
            </a:extLst>
          </p:cNvPr>
          <p:cNvSpPr>
            <a:spLocks noGrp="1"/>
          </p:cNvSpPr>
          <p:nvPr/>
        </p:nvSpPr>
        <p:spPr>
          <a:xfrm>
            <a:off x="628650" y="5591175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The aggregate sums institution balance sheets without eliminating interbank positions.</a:t>
            </a:r>
          </a:p>
        </p:txBody>
      </p:sp>
    </p:spTree>
    <p:extLst>
      <p:ext uri="{BB962C8B-B14F-4D97-AF65-F5344CB8AC3E}">
        <p14:creationId xmlns:p14="http://schemas.microsoft.com/office/powerpoint/2010/main" val="27743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B6EFA7-3BB0-4096-B225-9F2D63C31E0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Program workflow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54A92C-A86D-4E7A-B73B-594002DC994A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main() coordinates retrieval, validation, analysis and file output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7D0EEB-259B-42E7-8722-5F77D1461F45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3FB9CC-E852-4464-AB05-D0AC4195BC86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5905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F916FB-879A-400F-A3F4-9EABB59B366C}"/>
              </a:ext>
            </a:extLst>
          </p:cNvPr>
          <p:cNvSpPr>
            <a:spLocks noGrp="1"/>
          </p:cNvSpPr>
          <p:nvPr/>
        </p:nvSpPr>
        <p:spPr>
          <a:xfrm>
            <a:off x="1409700" y="1809750"/>
            <a:ext cx="9334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retrieve_all()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3CEEC9-7EC2-42FF-830E-16835B758641}"/>
              </a:ext>
            </a:extLst>
          </p:cNvPr>
          <p:cNvSpPr>
            <a:spLocks noGrp="1"/>
          </p:cNvSpPr>
          <p:nvPr/>
        </p:nvSpPr>
        <p:spPr>
          <a:xfrm>
            <a:off x="1409700" y="2162175"/>
            <a:ext cx="9334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Download every page of financial records.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51D3F18-7E17-4270-A8B0-45387C4830A5}"/>
              </a:ext>
            </a:extLst>
          </p:cNvPr>
          <p:cNvSpPr>
            <a:spLocks noGrp="1"/>
          </p:cNvSpPr>
          <p:nvPr/>
        </p:nvSpPr>
        <p:spPr>
          <a:xfrm>
            <a:off x="628650" y="2619375"/>
            <a:ext cx="5905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81FF21-6925-4EF2-810C-F43B42C66B61}"/>
              </a:ext>
            </a:extLst>
          </p:cNvPr>
          <p:cNvSpPr>
            <a:spLocks noGrp="1"/>
          </p:cNvSpPr>
          <p:nvPr/>
        </p:nvSpPr>
        <p:spPr>
          <a:xfrm>
            <a:off x="1409700" y="2619375"/>
            <a:ext cx="9334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validate_and_enrich(raw)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E4E79B-05A3-4E76-8109-CFDD02FE1A77}"/>
              </a:ext>
            </a:extLst>
          </p:cNvPr>
          <p:cNvSpPr>
            <a:spLocks noGrp="1"/>
          </p:cNvSpPr>
          <p:nvPr/>
        </p:nvSpPr>
        <p:spPr>
          <a:xfrm>
            <a:off x="1409700" y="2971800"/>
            <a:ext cx="9334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Check institutions and calculate summary accounts.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81BC34-D840-4507-8AB7-DD4DCE13C0DC}"/>
              </a:ext>
            </a:extLst>
          </p:cNvPr>
          <p:cNvSpPr>
            <a:spLocks noGrp="1"/>
          </p:cNvSpPr>
          <p:nvPr/>
        </p:nvSpPr>
        <p:spPr>
          <a:xfrm>
            <a:off x="628650" y="3429000"/>
            <a:ext cx="5905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E1054E-CFE4-4963-9259-E00BF8611522}"/>
              </a:ext>
            </a:extLst>
          </p:cNvPr>
          <p:cNvSpPr>
            <a:spLocks noGrp="1"/>
          </p:cNvSpPr>
          <p:nvPr/>
        </p:nvSpPr>
        <p:spPr>
          <a:xfrm>
            <a:off x="1409700" y="3429000"/>
            <a:ext cx="9334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aggregate(records)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B412C6-73E1-450F-A34D-E84AD9115AE8}"/>
              </a:ext>
            </a:extLst>
          </p:cNvPr>
          <p:cNvSpPr>
            <a:spLocks noGrp="1"/>
          </p:cNvSpPr>
          <p:nvPr/>
        </p:nvSpPr>
        <p:spPr>
          <a:xfrm>
            <a:off x="1409700" y="3781425"/>
            <a:ext cx="9334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Sum accounts and verify the industry balance.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516B85-AC76-4AA1-BDA4-6F9D95236825}"/>
              </a:ext>
            </a:extLst>
          </p:cNvPr>
          <p:cNvSpPr>
            <a:spLocks noGrp="1"/>
          </p:cNvSpPr>
          <p:nvPr/>
        </p:nvSpPr>
        <p:spPr>
          <a:xfrm>
            <a:off x="628650" y="4238625"/>
            <a:ext cx="5905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FFFF8D8-0C52-4054-8F4E-0FACB0119DCA}"/>
              </a:ext>
            </a:extLst>
          </p:cNvPr>
          <p:cNvSpPr>
            <a:spLocks noGrp="1"/>
          </p:cNvSpPr>
          <p:nvPr/>
        </p:nvSpPr>
        <p:spPr>
          <a:xfrm>
            <a:off x="1409700" y="4238625"/>
            <a:ext cx="9334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print_analysis(...)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9BDE1C-24F3-4403-9805-1808EB2649DA}"/>
              </a:ext>
            </a:extLst>
          </p:cNvPr>
          <p:cNvSpPr>
            <a:spLocks noGrp="1"/>
          </p:cNvSpPr>
          <p:nvPr/>
        </p:nvSpPr>
        <p:spPr>
          <a:xfrm>
            <a:off x="1409700" y="4591050"/>
            <a:ext cx="9334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Display the balance sheet and financial ratios.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E56FC65-B041-4155-879B-95E57AA5A955}"/>
              </a:ext>
            </a:extLst>
          </p:cNvPr>
          <p:cNvSpPr>
            <a:spLocks noGrp="1"/>
          </p:cNvSpPr>
          <p:nvPr/>
        </p:nvSpPr>
        <p:spPr>
          <a:xfrm>
            <a:off x="628650" y="5048250"/>
            <a:ext cx="5905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67F89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077919-D0A4-4DB4-AE27-073010FC5D12}"/>
              </a:ext>
            </a:extLst>
          </p:cNvPr>
          <p:cNvSpPr>
            <a:spLocks noGrp="1"/>
          </p:cNvSpPr>
          <p:nvPr/>
        </p:nvSpPr>
        <p:spPr>
          <a:xfrm>
            <a:off x="1409700" y="5048250"/>
            <a:ext cx="9334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write_csv(...)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0C77A45-CBDD-439A-AED8-FBFDCBFC6DF0}"/>
              </a:ext>
            </a:extLst>
          </p:cNvPr>
          <p:cNvSpPr>
            <a:spLocks noGrp="1"/>
          </p:cNvSpPr>
          <p:nvPr/>
        </p:nvSpPr>
        <p:spPr>
          <a:xfrm>
            <a:off x="1409700" y="5400675"/>
            <a:ext cx="9334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Save both CSV files, then record metadata.</a:t>
            </a:r>
          </a:p>
        </p:txBody>
      </p:sp>
    </p:spTree>
    <p:extLst>
      <p:ext uri="{BB962C8B-B14F-4D97-AF65-F5344CB8AC3E}">
        <p14:creationId xmlns:p14="http://schemas.microsoft.com/office/powerpoint/2010/main" val="1284244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45EB72D-72AF-448E-89EE-C89D84C4181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Running the program in Google Colab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D5A299-AB33-49F5-A11B-00A7B2BFA1AC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Upload the completed Python file, then run one command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10771B-C363-49C4-B0CA-86F67A0718EB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155464-843D-434C-B789-519693C6D96F}"/>
              </a:ext>
            </a:extLst>
          </p:cNvPr>
          <p:cNvSpPr>
            <a:spLocks noGrp="1"/>
          </p:cNvSpPr>
          <p:nvPr/>
        </p:nvSpPr>
        <p:spPr>
          <a:xfrm>
            <a:off x="647700" y="18764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5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%run 20206449_FDIC_2025Q4.py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D648EF-D59A-441F-8CBA-CEF445CFC425}"/>
              </a:ext>
            </a:extLst>
          </p:cNvPr>
          <p:cNvSpPr>
            <a:spLocks noGrp="1"/>
          </p:cNvSpPr>
          <p:nvPr/>
        </p:nvSpPr>
        <p:spPr>
          <a:xfrm>
            <a:off x="628650" y="28860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No setup changes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89E6CB-A33E-47B2-86CD-35979618B4E8}"/>
              </a:ext>
            </a:extLst>
          </p:cNvPr>
          <p:cNvSpPr>
            <a:spLocks noGrp="1"/>
          </p:cNvSpPr>
          <p:nvPr/>
        </p:nvSpPr>
        <p:spPr>
          <a:xfrm>
            <a:off x="628650" y="33051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The script uses only the Python standard library. It requires no API key, pip installation or input CSV.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E44877-09CC-4820-BB0A-334D4A15FBC9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Execution and output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FBE6C4-A0E2-4315-A40A-C00D8EBF4283}"/>
              </a:ext>
            </a:extLst>
          </p:cNvPr>
          <p:cNvSpPr>
            <a:spLocks noGrp="1"/>
          </p:cNvSpPr>
          <p:nvPr/>
        </p:nvSpPr>
        <p:spPr>
          <a:xfrm>
            <a:off x="628650" y="46386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The main guard calls main(). Path.cwd() saves the output files in the current working directory, usually /content in Colab.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747116-4DEA-49CE-AB89-E4FBD207721D}"/>
              </a:ext>
            </a:extLst>
          </p:cNvPr>
          <p:cNvSpPr>
            <a:spLocks noGrp="1"/>
          </p:cNvSpPr>
          <p:nvPr/>
        </p:nvSpPr>
        <p:spPr>
          <a:xfrm>
            <a:off x="666750" y="5514975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if __name__ == "__main__":</a:t>
            </a:r>
          </a:p>
          <a:p>
            <a:pPr>
              <a:def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main()</a:t>
            </a:r>
          </a:p>
        </p:txBody>
      </p:sp>
    </p:spTree>
    <p:extLst>
      <p:ext uri="{BB962C8B-B14F-4D97-AF65-F5344CB8AC3E}">
        <p14:creationId xmlns:p14="http://schemas.microsoft.com/office/powerpoint/2010/main" val="145840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1AD4DA95-B3F5-4098-9949-1C80A480B44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API request and historical population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E4AFA4C-03A0-4533-8B04-879A69E70B5B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Select insurance status and institution class at the report date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DE50DE4-EA6E-453E-9D48-DFB5FCB709FA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C7F5A9-9261-404C-BB8A-12A585572121}"/>
              </a:ext>
            </a:extLst>
          </p:cNvPr>
          <p:cNvSpPr>
            <a:spLocks noGrp="1"/>
          </p:cNvSpPr>
          <p:nvPr/>
        </p:nvSpPr>
        <p:spPr>
          <a:xfrm>
            <a:off x="647700" y="1752600"/>
            <a:ext cx="10858500" cy="1323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API_URL = "https://api.fdic.gov/banks/financials"</a:t>
            </a:r>
          </a:p>
          <a:p>
            <a:pPr>
              <a:defRPr sz="19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REPDTE:20251231 AND INSDIF:1</a:t>
            </a:r>
          </a:p>
          <a:p>
            <a:pPr>
              <a:defRPr sz="19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AND BKCLASS:(N OR NM OR SM OR SB OR SI OR SL)</a:t>
            </a:r>
          </a:p>
        </p:txBody>
      </p:sp>
      <p:graphicFrame>
        <p:nvGraphicFramePr>
          <p:cNvPr id="11" name="표 10"/>
          <p:cNvGraphicFramePr/>
          <p:nvPr/>
        </p:nvGraphicFramePr>
        <p:xfrm>
          <a:off x="628650" y="3267075"/>
          <a:ext cx="10934700" cy="2314575"/>
        </p:xfrm>
        <a:graphic>
          <a:graphicData uri="http://schemas.openxmlformats.org/drawingml/2006/table">
            <a:tbl>
              <a:tblPr/>
              <a:tblGrid>
                <a:gridCol w="50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91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Request setting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Purpose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fields = ",".join(FIELDS)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Request identifiers and monetary accounts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sort_by = CERT, sort_order = ASC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Keep institution ordering consistent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limit = 1000, offset =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Retrieve successive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urlencode(params)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Encode the query string for the GET request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6719E8B9-AE58-4D41-882C-38ED9452940A}"/>
              </a:ext>
            </a:extLst>
          </p:cNvPr>
          <p:cNvSpPr>
            <a:spLocks noGrp="1"/>
          </p:cNvSpPr>
          <p:nvPr/>
        </p:nvSpPr>
        <p:spPr>
          <a:xfrm>
            <a:off x="628650" y="5819775"/>
            <a:ext cx="108108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The filter excludes uninsured institutions and foreign-bank U.S. branches. It does not use today's ACTIVE status.</a:t>
            </a:r>
          </a:p>
        </p:txBody>
      </p:sp>
    </p:spTree>
    <p:extLst>
      <p:ext uri="{BB962C8B-B14F-4D97-AF65-F5344CB8AC3E}">
        <p14:creationId xmlns:p14="http://schemas.microsoft.com/office/powerpoint/2010/main" val="988272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3CD47F9-2951-4A59-8D55-04F7D052746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Pagination prevents incomplete retrieval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B42428-7409-4FBE-9FD2-F7FFD3439346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Five API requests cover all 4,338 observations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EE360E-978A-4EE4-BE11-7261A06F50EC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B96F61-6A6E-4A4B-BBF7-AF9860ACF9E3}"/>
              </a:ext>
            </a:extLst>
          </p:cNvPr>
          <p:cNvSpPr>
            <a:spLocks noGrp="1"/>
          </p:cNvSpPr>
          <p:nvPr/>
        </p:nvSpPr>
        <p:spPr>
          <a:xfrm>
            <a:off x="628650" y="1704975"/>
            <a:ext cx="10953750" cy="1533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while expected_total is None or len(records) &lt; expected_total:</a:t>
            </a:r>
          </a:p>
          <a:p>
            <a:pPr>
              <a:def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payload, url = fetch_page(len(records))</a:t>
            </a:r>
          </a:p>
          <a:p>
            <a:pPr>
              <a:def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page = [entry["data"] for entry in payload["data"]]</a:t>
            </a:r>
          </a:p>
          <a:p>
            <a:pPr>
              <a:def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records.extend(page)</a:t>
            </a:r>
          </a:p>
        </p:txBody>
      </p:sp>
      <p:graphicFrame>
        <p:nvGraphicFramePr>
          <p:cNvPr id="11" name="표 10"/>
          <p:cNvGraphicFramePr/>
          <p:nvPr/>
        </p:nvGraphicFramePr>
        <p:xfrm>
          <a:off x="628650" y="3438525"/>
          <a:ext cx="5391150" cy="2533650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2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Request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Offset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Records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1,000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1,000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3,000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1,000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6ABF90B-C316-4760-A6DA-BBD2FAE5477B}"/>
              </a:ext>
            </a:extLst>
          </p:cNvPr>
          <p:cNvSpPr>
            <a:spLocks noGrp="1"/>
          </p:cNvSpPr>
          <p:nvPr/>
        </p:nvSpPr>
        <p:spPr>
          <a:xfrm>
            <a:off x="6505575" y="3476625"/>
            <a:ext cx="4981575" cy="2571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while repeats until the API total is reached.</a:t>
            </a:r>
          </a:p>
          <a:p>
            <a:endParaRPr sz="1800" b="0">
              <a:solidFill>
                <a:srgbClr val="253C4E"/>
              </a:solidFill>
              <a:latin typeface="Nimbus Sans"/>
              <a:ea typeface="Nimbus Sans"/>
              <a:cs typeface="Nimbus Sans"/>
            </a:endParaRPr>
          </a:p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The list comprehension extracts each data object. extend adds the page to records.</a:t>
            </a:r>
          </a:p>
          <a:p>
            <a:endParaRPr sz="1800" b="0">
              <a:solidFill>
                <a:srgbClr val="253C4E"/>
              </a:solidFill>
              <a:latin typeface="Nimbus Sans"/>
              <a:ea typeface="Nimbus Sans"/>
              <a:cs typeface="Nimbus Sans"/>
            </a:endParaRPr>
          </a:p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A change in the API version or total count stops the run.</a:t>
            </a:r>
          </a:p>
        </p:txBody>
      </p:sp>
    </p:spTree>
    <p:extLst>
      <p:ext uri="{BB962C8B-B14F-4D97-AF65-F5344CB8AC3E}">
        <p14:creationId xmlns:p14="http://schemas.microsoft.com/office/powerpoint/2010/main" val="115877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E8ED7D0-1BE0-458B-88EB-244197549F7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Validation and error handling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CFA294-70EC-43D7-B549-72558B51A708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The program stops when required data fail validation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6E9BBA-EA77-44AE-80DD-596F9D8C197E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graphicFrame>
        <p:nvGraphicFramePr>
          <p:cNvPr id="10" name="표 9"/>
          <p:cNvGraphicFramePr/>
          <p:nvPr/>
        </p:nvGraphicFramePr>
        <p:xfrm>
          <a:off x="628650" y="1724025"/>
          <a:ext cx="10934700" cy="3009900"/>
        </p:xfrm>
        <a:graphic>
          <a:graphicData uri="http://schemas.openxmlformats.org/drawingml/2006/table">
            <a:tbl>
              <a:tblPr/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Control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Implementation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Required fields and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Check FIELDS and convert with exact_integer()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Duplicate institutions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Track CERT values in a set named seen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Population consistency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Check REPDTE, BKCLASS and INSDIF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Balance-sheet consistency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Require ASSET - LIAB - EQTOT == 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Transient network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try / except with up to three attempts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C092D43-B8F0-4010-AE25-2DB8205D227A}"/>
              </a:ext>
            </a:extLst>
          </p:cNvPr>
          <p:cNvSpPr>
            <a:spLocks noGrp="1"/>
          </p:cNvSpPr>
          <p:nvPr/>
        </p:nvSpPr>
        <p:spPr>
          <a:xfrm>
            <a:off x="628650" y="5095875"/>
            <a:ext cx="109061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with urlopen(request, timeout=90) as response:</a:t>
            </a:r>
          </a:p>
          <a:p>
            <a:pPr>
              <a:def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return json.load(response, parse_float=Decimal), url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184E38-3970-4F03-A842-F11CA90C8627}"/>
              </a:ext>
            </a:extLst>
          </p:cNvPr>
          <p:cNvSpPr>
            <a:spLocks noGrp="1"/>
          </p:cNvSpPr>
          <p:nvPr/>
        </p:nvSpPr>
        <p:spPr>
          <a:xfrm>
            <a:off x="628650" y="5962650"/>
            <a:ext cx="10477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Missing values remain errors. The script never substitutes zero silently.</a:t>
            </a:r>
          </a:p>
        </p:txBody>
      </p:sp>
    </p:spTree>
    <p:extLst>
      <p:ext uri="{BB962C8B-B14F-4D97-AF65-F5344CB8AC3E}">
        <p14:creationId xmlns:p14="http://schemas.microsoft.com/office/powerpoint/2010/main" val="641587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EF2562-2273-44BC-917E-4E4523C7841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Core financial fields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625FC0-5437-480C-8021-BB2AA4963B2C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Reported variables remain available in the institution CSV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9E0C22-CEB0-451D-9B19-2D4448D0D440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graphicFrame>
        <p:nvGraphicFramePr>
          <p:cNvPr id="9" name="표 8"/>
          <p:cNvGraphicFramePr/>
          <p:nvPr/>
        </p:nvGraphicFramePr>
        <p:xfrm>
          <a:off x="628650" y="1724025"/>
          <a:ext cx="10934700" cy="3819525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392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Balance-sheet account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FDIC field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Treatment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3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3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Cash and balances due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CHBAL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Reported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3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Securities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3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Net loans and leases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LNLSNET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Reported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3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Deposits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3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liabilities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LIAB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Reported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3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equity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EQTOT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4392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Borrowed funds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FREPP + OTHBRF + SUBND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Calculated sum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C58E902-222E-4834-A378-54C9723DD26B}"/>
              </a:ext>
            </a:extLst>
          </p:cNvPr>
          <p:cNvSpPr>
            <a:spLocks noGrp="1"/>
          </p:cNvSpPr>
          <p:nvPr/>
        </p:nvSpPr>
        <p:spPr>
          <a:xfrm>
            <a:off x="628650" y="5762625"/>
            <a:ext cx="108585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FREPP covers federal funds and repo borrowing. SUBND adds subordinated debt.</a:t>
            </a:r>
          </a:p>
          <a:p>
            <a:pPr>
              <a:defRPr sz="1725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BRO denotes brokered deposits and is not the borrowed-funds account.</a:t>
            </a:r>
          </a:p>
        </p:txBody>
      </p:sp>
    </p:spTree>
    <p:extLst>
      <p:ext uri="{BB962C8B-B14F-4D97-AF65-F5344CB8AC3E}">
        <p14:creationId xmlns:p14="http://schemas.microsoft.com/office/powerpoint/2010/main" val="653539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392792-2E52-4BD0-BD49-D4C16EF6D5D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Calculated balance-sheet categories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2BAB58-2C12-4568-A5B5-98FE69F68657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The presentation labels broad residual accounts explicitly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25E917-5EA5-422A-A187-666FF7F66175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79CEB5-F849-4945-AC55-5427A3DDC58F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Borrowed funds, including subordinated debt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0923CC-AAAE-47D6-9A04-2988C8EE6687}"/>
              </a:ext>
            </a:extLst>
          </p:cNvPr>
          <p:cNvSpPr>
            <a:spLocks noGrp="1"/>
          </p:cNvSpPr>
          <p:nvPr/>
        </p:nvSpPr>
        <p:spPr>
          <a:xfrm>
            <a:off x="628650" y="217170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BORROWED_FUNDS_CALC = FREPP + OTHBRF + SUBND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D39252-2D7B-489D-9E16-7DF483749E90}"/>
              </a:ext>
            </a:extLst>
          </p:cNvPr>
          <p:cNvSpPr>
            <a:spLocks noGrp="1"/>
          </p:cNvSpPr>
          <p:nvPr/>
        </p:nvSpPr>
        <p:spPr>
          <a:xfrm>
            <a:off x="628650" y="298132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Other assets, calculated residual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76BAD7-E97A-4C2B-B1AB-D02726749A41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OTHER_ASSETS_CALC = ASSET - CHBAL - SC - LNLSNET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8B3A27-672F-4B8C-A020-DAE3D67FDBFB}"/>
              </a:ext>
            </a:extLst>
          </p:cNvPr>
          <p:cNvSpPr>
            <a:spLocks noGrp="1"/>
          </p:cNvSpPr>
          <p:nvPr/>
        </p:nvSpPr>
        <p:spPr>
          <a:xfrm>
            <a:off x="628650" y="421005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Other liabilities, calculated residual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F682C6-25E9-4C0C-BAEA-4DC0DD102CA7}"/>
              </a:ext>
            </a:extLst>
          </p:cNvPr>
          <p:cNvSpPr>
            <a:spLocks noGrp="1"/>
          </p:cNvSpPr>
          <p:nvPr/>
        </p:nvSpPr>
        <p:spPr>
          <a:xfrm>
            <a:off x="628650" y="462915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OTHER_LIABILITIES_CALC = LIAB - DEP - BORROWED_FUNDS_CALC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CFE78A-74A3-4A59-8AB1-DB043971F8E8}"/>
              </a:ext>
            </a:extLst>
          </p:cNvPr>
          <p:cNvSpPr>
            <a:spLocks noGrp="1"/>
          </p:cNvSpPr>
          <p:nvPr/>
        </p:nvSpPr>
        <p:spPr>
          <a:xfrm>
            <a:off x="628650" y="5600700"/>
            <a:ext cx="109061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Reported OA and ALLOTHL cover narrower accounts. Adding them again to these residuals would double-count amounts.</a:t>
            </a:r>
          </a:p>
        </p:txBody>
      </p:sp>
    </p:spTree>
    <p:extLst>
      <p:ext uri="{BB962C8B-B14F-4D97-AF65-F5344CB8AC3E}">
        <p14:creationId xmlns:p14="http://schemas.microsoft.com/office/powerpoint/2010/main" val="55056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17219AF-1FE2-4236-AE0D-26E2FF365F5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Aggregation and unit conversion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513136-8EF1-41F6-B7C0-59465E26141F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Validate original integer amounts before rounding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B19E80-609C-4C7F-A719-596D10E4C5FA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507E3E-5292-478C-95F2-996434EB25D9}"/>
              </a:ext>
            </a:extLst>
          </p:cNvPr>
          <p:cNvSpPr>
            <a:spLocks noGrp="1"/>
          </p:cNvSpPr>
          <p:nvPr/>
        </p:nvSpPr>
        <p:spPr>
          <a:xfrm>
            <a:off x="628650" y="1743075"/>
            <a:ext cx="10839450" cy="1409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totals = {</a:t>
            </a:r>
          </a:p>
          <a:p>
            <a:pPr>
              <a:defRPr sz="20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field: sum(row[field] for row in records)</a:t>
            </a:r>
          </a:p>
          <a:p>
            <a:pPr>
              <a:defRPr sz="20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for field in MONEY_FIELDS + DERIVED_FIELDS</a:t>
            </a:r>
          </a:p>
          <a:p>
            <a:pPr>
              <a:defRPr sz="2025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}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BB8310-15F5-4CBD-9490-1A9FDE0AAD15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The dictionary comprehension creates one total per field.</a:t>
            </a:r>
          </a:p>
          <a:p>
            <a:pPr>
              <a:def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sum() adds that field across every institution.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43DF00-23C5-41D7-8C44-D2B7B0941BD9}"/>
              </a:ext>
            </a:extLst>
          </p:cNvPr>
          <p:cNvSpPr>
            <a:spLocks noGrp="1"/>
          </p:cNvSpPr>
          <p:nvPr/>
        </p:nvSpPr>
        <p:spPr>
          <a:xfrm>
            <a:off x="628650" y="4476750"/>
            <a:ext cx="10839450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USD billions = USD thousands / 1,000,000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149F4C-F64E-439B-A614-ABD8930C0403}"/>
              </a:ext>
            </a:extLst>
          </p:cNvPr>
          <p:cNvSpPr>
            <a:spLocks noGrp="1"/>
          </p:cNvSpPr>
          <p:nvPr/>
        </p:nvSpPr>
        <p:spPr>
          <a:xfrm>
            <a:off x="628650" y="5353050"/>
            <a:ext cx="108108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Console output: 3 decimal places</a:t>
            </a:r>
          </a:p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CSV output: 6 decimal places, preserving the original thousand-dollar precision</a:t>
            </a:r>
          </a:p>
        </p:txBody>
      </p:sp>
    </p:spTree>
    <p:extLst>
      <p:ext uri="{BB962C8B-B14F-4D97-AF65-F5344CB8AC3E}">
        <p14:creationId xmlns:p14="http://schemas.microsoft.com/office/powerpoint/2010/main" val="27034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6607881-52FC-46DE-AB65-8D5AEF38170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Output files and reproducibility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4C7E57-FD81-4024-84DE-AC5BE63FA200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The program writes files only after all checks pass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C95800-55DB-4980-B5A8-ADC46C2B5133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934D77-1466-4773-8F24-01FB993A6C91}"/>
              </a:ext>
            </a:extLst>
          </p:cNvPr>
          <p:cNvSpPr>
            <a:spLocks noGrp="1"/>
          </p:cNvSpPr>
          <p:nvPr/>
        </p:nvSpPr>
        <p:spPr>
          <a:xfrm>
            <a:off x="628650" y="1762125"/>
            <a:ext cx="109347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fdic_2025q4_institution_financials.csv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A28DE23-AE3B-41BD-B7AA-CEECD7465881}"/>
              </a:ext>
            </a:extLst>
          </p:cNvPr>
          <p:cNvSpPr>
            <a:spLocks noGrp="1"/>
          </p:cNvSpPr>
          <p:nvPr/>
        </p:nvSpPr>
        <p:spPr>
          <a:xfrm>
            <a:off x="628650" y="2200275"/>
            <a:ext cx="10887075" cy="561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One row per institution. Identifiers, original fields and calculated accounts in USD thousands.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CFC407-D6B6-4901-946C-F533C98D9264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09347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fdic_2025q4_aggregate_balance_sheet.csv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DED0163-8E0B-4190-A549-395C23099416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Account totals in both units, asset shares, calculation formulas and row_type.</a:t>
            </a:r>
          </a:p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Use row_type to separate components from totals when analyzing this file.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9E0100-8B35-4C24-8ACF-F211FE3899C1}"/>
              </a:ext>
            </a:extLst>
          </p:cNvPr>
          <p:cNvSpPr>
            <a:spLocks noGrp="1"/>
          </p:cNvSpPr>
          <p:nvPr/>
        </p:nvSpPr>
        <p:spPr>
          <a:xfrm>
            <a:off x="628650" y="4495800"/>
            <a:ext cx="1089660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with path.open("w", encoding="utf-8-sig", newline="") as handle:</a:t>
            </a:r>
          </a:p>
          <a:p>
            <a:pPr>
              <a:def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writer = csv.DictWriter(handle, fieldnames=columns)</a:t>
            </a:r>
          </a:p>
          <a:p>
            <a:pPr>
              <a:def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writer.writeheader()</a:t>
            </a:r>
          </a:p>
          <a:p>
            <a:pPr>
              <a:def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    writer.writerows(rows)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F35815-7760-4D0C-BB23-7CAAD339CAFE}"/>
              </a:ext>
            </a:extLst>
          </p:cNvPr>
          <p:cNvSpPr>
            <a:spLocks noGrp="1"/>
          </p:cNvSpPr>
          <p:nvPr/>
        </p:nvSpPr>
        <p:spPr>
          <a:xfrm>
            <a:off x="628650" y="5953125"/>
            <a:ext cx="10858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The additional JSON file records timestamps, request URLs, the API index and checks.</a:t>
            </a:r>
          </a:p>
        </p:txBody>
      </p:sp>
    </p:spTree>
    <p:extLst>
      <p:ext uri="{BB962C8B-B14F-4D97-AF65-F5344CB8AC3E}">
        <p14:creationId xmlns:p14="http://schemas.microsoft.com/office/powerpoint/2010/main" val="364959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D9BF25-65F0-4BE8-BC45-C25DFE2E6C2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The accounting identity holds exactly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2A3E8B-0579-4AAB-96C8-68B78838F432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Use the independently reported EQTOT field for the equity check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EC56F4-1FAC-4705-B614-A9FC305DFBEA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150292-1549-4612-8555-9751CD429ED4}"/>
              </a:ext>
            </a:extLst>
          </p:cNvPr>
          <p:cNvSpPr>
            <a:spLocks noGrp="1"/>
          </p:cNvSpPr>
          <p:nvPr/>
        </p:nvSpPr>
        <p:spPr>
          <a:xfrm>
            <a:off x="628650" y="18097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Total assets = Total liabilities + Total equity capital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DA02D4-7469-4511-9674-E218E25A2B31}"/>
              </a:ext>
            </a:extLst>
          </p:cNvPr>
          <p:cNvSpPr>
            <a:spLocks noGrp="1"/>
          </p:cNvSpPr>
          <p:nvPr/>
        </p:nvSpPr>
        <p:spPr>
          <a:xfrm>
            <a:off x="628650" y="270510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6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25,257,205,993 = 22,658,613,881 + 2,598,592,112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223EF6-604D-4ACE-AEAA-B08F893D5CD4}"/>
              </a:ext>
            </a:extLst>
          </p:cNvPr>
          <p:cNvSpPr>
            <a:spLocks noGrp="1"/>
          </p:cNvSpPr>
          <p:nvPr/>
        </p:nvSpPr>
        <p:spPr>
          <a:xfrm>
            <a:off x="647700" y="3390900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Original units: USD thousands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FA66D06-414B-49C3-84F8-128AF8789FCD}"/>
              </a:ext>
            </a:extLst>
          </p:cNvPr>
          <p:cNvSpPr>
            <a:spLocks noGrp="1"/>
          </p:cNvSpPr>
          <p:nvPr/>
        </p:nvSpPr>
        <p:spPr>
          <a:xfrm>
            <a:off x="647700" y="4191000"/>
            <a:ext cx="2714625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0" b="1">
                <a:solidFill>
                  <a:srgbClr val="167F89"/>
                </a:solidFill>
                <a:latin typeface="Nimbus Sans"/>
                <a:ea typeface="Nimbus Sans"/>
                <a:cs typeface="Nimbus Sans"/>
              </a:defRPr>
            </a:pPr>
            <a:r>
              <a:rPr sz="6000" b="1">
                <a:solidFill>
                  <a:srgbClr val="167F89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7736FE-62FD-4103-85C4-E3FD878C61C5}"/>
              </a:ext>
            </a:extLst>
          </p:cNvPr>
          <p:cNvSpPr>
            <a:spLocks noGrp="1"/>
          </p:cNvSpPr>
          <p:nvPr/>
        </p:nvSpPr>
        <p:spPr>
          <a:xfrm>
            <a:off x="647700" y="5133975"/>
            <a:ext cx="4476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Aggregate balance difference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844F689-FB67-472D-958A-0CF7A74BF497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5334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>
                <a:solidFill>
                  <a:srgbClr val="167F89"/>
                </a:solidFill>
                <a:latin typeface="Nimbus Sans"/>
                <a:ea typeface="Nimbus Sans"/>
                <a:cs typeface="Nimbus Sans"/>
              </a:defRPr>
            </a:pPr>
            <a:r>
              <a:rPr sz="3525" b="1">
                <a:solidFill>
                  <a:srgbClr val="167F89"/>
                </a:solidFill>
                <a:latin typeface="Nimbus Sans"/>
                <a:ea typeface="Nimbus Sans"/>
                <a:cs typeface="Nimbus Sans"/>
              </a:rPr>
              <a:t>4,338 / 4,338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9012F0D-29B9-444C-8D82-F42A5A8D7BB1}"/>
              </a:ext>
            </a:extLst>
          </p:cNvPr>
          <p:cNvSpPr>
            <a:spLocks noGrp="1"/>
          </p:cNvSpPr>
          <p:nvPr/>
        </p:nvSpPr>
        <p:spPr>
          <a:xfrm>
            <a:off x="6153150" y="5143500"/>
            <a:ext cx="5286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Institutions passing the same identity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4B4C65-90E8-4A29-81CF-9853988E5B13}"/>
              </a:ext>
            </a:extLst>
          </p:cNvPr>
          <p:cNvSpPr>
            <a:spLocks noGrp="1"/>
          </p:cNvSpPr>
          <p:nvPr/>
        </p:nvSpPr>
        <p:spPr>
          <a:xfrm>
            <a:off x="628650" y="6000750"/>
            <a:ext cx="10858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EQ differs from EQTOT for 96 institutions. Deriving equity as assets minus liabilities would make the check circular.</a:t>
            </a:r>
          </a:p>
        </p:txBody>
      </p:sp>
    </p:spTree>
    <p:extLst>
      <p:ext uri="{BB962C8B-B14F-4D97-AF65-F5344CB8AC3E}">
        <p14:creationId xmlns:p14="http://schemas.microsoft.com/office/powerpoint/2010/main" val="1207082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4A981E6-0DCC-426B-B6E8-65AA8C61C59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Aggregate balance sheet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DA54DC-3385-4C8C-9F97-AB83AA72FA46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December 31, 2025, amounts in USD billions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D3AF5F7-F19C-430B-B51A-8DFD18E15B4A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13</a:t>
            </a:r>
          </a:p>
        </p:txBody>
      </p:sp>
      <p:graphicFrame>
        <p:nvGraphicFramePr>
          <p:cNvPr id="11" name="표 10"/>
          <p:cNvGraphicFramePr/>
          <p:nvPr/>
        </p:nvGraphicFramePr>
        <p:xfrm>
          <a:off x="628650" y="1857375"/>
          <a:ext cx="5305425" cy="33813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Assets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USD bn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Cash and balances due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2,572.471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Securities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5,712.108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Net loans and leases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13,255.133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Other assets¹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3,717.495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assets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25,257.206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/>
          <p:nvPr/>
        </p:nvGraphicFramePr>
        <p:xfrm>
          <a:off x="6238875" y="1857375"/>
          <a:ext cx="5305425" cy="33813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Liabilities and equity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USD bn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Deposits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20,077.278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Borrowed funds²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1,645.723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Other liabilities¹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935.613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liabilities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22,658.614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equity capital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2,598.592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5D0CB17F-A81C-4C06-8D24-1B59F9C95A6A}"/>
              </a:ext>
            </a:extLst>
          </p:cNvPr>
          <p:cNvSpPr>
            <a:spLocks noGrp="1"/>
          </p:cNvSpPr>
          <p:nvPr/>
        </p:nvSpPr>
        <p:spPr>
          <a:xfrm>
            <a:off x="628650" y="550545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¹ Calculated residual.  ² Includes subordinated debt.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0DCF5E-345E-4F6E-9D27-7311CB79A059}"/>
              </a:ext>
            </a:extLst>
          </p:cNvPr>
          <p:cNvSpPr>
            <a:spLocks noGrp="1"/>
          </p:cNvSpPr>
          <p:nvPr/>
        </p:nvSpPr>
        <p:spPr>
          <a:xfrm>
            <a:off x="628650" y="59340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Figures may not add exactly after rounding. The original integer amounts balance.</a:t>
            </a:r>
          </a:p>
        </p:txBody>
      </p:sp>
    </p:spTree>
    <p:extLst>
      <p:ext uri="{BB962C8B-B14F-4D97-AF65-F5344CB8AC3E}">
        <p14:creationId xmlns:p14="http://schemas.microsoft.com/office/powerpoint/2010/main" val="1052030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56B3626-E2BA-447F-8362-6192C885481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Loans represent 52.48% of total assets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C0EF53-0C14-4A39-96FE-457273DC9CF6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Asset composition, December 31, 2025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2A7AB5-FDD1-418D-8CC0-0C62C3057103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571500" y="1828800"/>
          <a:ext cx="742950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BFFE5B5-D02C-460B-90D0-6BAD607A9760}"/>
              </a:ext>
            </a:extLst>
          </p:cNvPr>
          <p:cNvSpPr>
            <a:spLocks noGrp="1"/>
          </p:cNvSpPr>
          <p:nvPr/>
        </p:nvSpPr>
        <p:spPr>
          <a:xfrm>
            <a:off x="8620125" y="2000250"/>
            <a:ext cx="295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52.48%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6D2600-DA72-45F5-AAF1-D8D2A9ABF9A7}"/>
              </a:ext>
            </a:extLst>
          </p:cNvPr>
          <p:cNvSpPr>
            <a:spLocks noGrp="1"/>
          </p:cNvSpPr>
          <p:nvPr/>
        </p:nvSpPr>
        <p:spPr>
          <a:xfrm>
            <a:off x="8629650" y="2905125"/>
            <a:ext cx="283845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The largest asset category reflects banks’ lending role.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FEE1C1-790A-45A5-B06E-74AAEA276894}"/>
              </a:ext>
            </a:extLst>
          </p:cNvPr>
          <p:cNvSpPr>
            <a:spLocks noGrp="1"/>
          </p:cNvSpPr>
          <p:nvPr/>
        </p:nvSpPr>
        <p:spPr>
          <a:xfrm>
            <a:off x="8629650" y="4314825"/>
            <a:ext cx="2838450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Securities add 22.62% of assets, making valuation and interest-rate exposure relevant.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190D75-FB37-4C95-A9D6-307E4236606C}"/>
              </a:ext>
            </a:extLst>
          </p:cNvPr>
          <p:cNvSpPr>
            <a:spLocks noGrp="1"/>
          </p:cNvSpPr>
          <p:nvPr/>
        </p:nvSpPr>
        <p:spPr>
          <a:xfrm>
            <a:off x="628650" y="601980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¹ Calculated residual. Shares use total assets as the denominator.</a:t>
            </a:r>
          </a:p>
        </p:txBody>
      </p:sp>
    </p:spTree>
    <p:extLst>
      <p:ext uri="{BB962C8B-B14F-4D97-AF65-F5344CB8AC3E}">
        <p14:creationId xmlns:p14="http://schemas.microsoft.com/office/powerpoint/2010/main" val="2038761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25295028-26AA-4A82-9842-15CB7481551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Deposits provide the largest funding source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2D9CC6-0342-4549-AED7-5931D412389A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Funding and equity as a share of total assets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097D9A9-0E68-472A-858A-0ED59526C3CB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15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571500" y="1828800"/>
          <a:ext cx="742950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BAF095F-EE40-42BE-8E91-824C25A14302}"/>
              </a:ext>
            </a:extLst>
          </p:cNvPr>
          <p:cNvSpPr>
            <a:spLocks noGrp="1"/>
          </p:cNvSpPr>
          <p:nvPr/>
        </p:nvSpPr>
        <p:spPr>
          <a:xfrm>
            <a:off x="8620125" y="2000250"/>
            <a:ext cx="295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900" b="1">
                <a:solidFill>
                  <a:srgbClr val="167F89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67F89"/>
                </a:solidFill>
                <a:latin typeface="Nimbus Sans"/>
                <a:ea typeface="Nimbus Sans"/>
                <a:cs typeface="Nimbus Sans"/>
              </a:rPr>
              <a:t>79.49%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CB5F6A-D79A-492A-AE4E-7B285183437A}"/>
              </a:ext>
            </a:extLst>
          </p:cNvPr>
          <p:cNvSpPr>
            <a:spLocks noGrp="1"/>
          </p:cNvSpPr>
          <p:nvPr/>
        </p:nvSpPr>
        <p:spPr>
          <a:xfrm>
            <a:off x="8629650" y="2914650"/>
            <a:ext cx="2847975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Deposits finance most of the aggregate balance sheet.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D93EAC-FD90-4D86-A6B5-5D89F09A375B}"/>
              </a:ext>
            </a:extLst>
          </p:cNvPr>
          <p:cNvSpPr>
            <a:spLocks noGrp="1"/>
          </p:cNvSpPr>
          <p:nvPr/>
        </p:nvSpPr>
        <p:spPr>
          <a:xfrm>
            <a:off x="8629650" y="4333875"/>
            <a:ext cx="2838450" cy="1524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Deposit totals include foreign-office balances. FDIC-insured institutions can also hold uninsured deposits.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3AF44F-7E9B-4244-9C64-E10097D93957}"/>
              </a:ext>
            </a:extLst>
          </p:cNvPr>
          <p:cNvSpPr>
            <a:spLocks noGrp="1"/>
          </p:cNvSpPr>
          <p:nvPr/>
        </p:nvSpPr>
        <p:spPr>
          <a:xfrm>
            <a:off x="628650" y="6010275"/>
            <a:ext cx="106680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¹ Includes subordinated debt.  ² Calculated residual.</a:t>
            </a:r>
          </a:p>
        </p:txBody>
      </p:sp>
    </p:spTree>
    <p:extLst>
      <p:ext uri="{BB962C8B-B14F-4D97-AF65-F5344CB8AC3E}">
        <p14:creationId xmlns:p14="http://schemas.microsoft.com/office/powerpoint/2010/main" val="2068775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E2702FE-8B7D-4E45-98F9-FC9905B32AC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Financial interpretation of the balance sheet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60B2AB-4F22-4D2D-84EA-FC6FA103B25D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Three measures describe lending, funding and book capital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683F46-7696-4FC8-8107-F682FB5D6252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16</a:t>
            </a:r>
          </a:p>
        </p:txBody>
      </p:sp>
      <p:graphicFrame>
        <p:nvGraphicFramePr>
          <p:cNvPr id="10" name="표 9"/>
          <p:cNvGraphicFramePr/>
          <p:nvPr/>
        </p:nvGraphicFramePr>
        <p:xfrm>
          <a:off x="628650" y="1838325"/>
          <a:ext cx="10934700" cy="23907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6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Measure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Result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Interpretation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Net loans / deposits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66.02%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Loans are smaller than deposits in aggregate.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6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Book equity / assets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10.29%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Book equity absorbs losses before creditors.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6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Assets / book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9.72x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Assets are about 9.72 times book equity.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3C4C35E-8C2E-470E-A0C3-CBE5E5654F1F}"/>
              </a:ext>
            </a:extLst>
          </p:cNvPr>
          <p:cNvSpPr>
            <a:spLocks noGrp="1"/>
          </p:cNvSpPr>
          <p:nvPr/>
        </p:nvSpPr>
        <p:spPr>
          <a:xfrm>
            <a:off x="628650" y="4648200"/>
            <a:ext cx="10858500" cy="771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A 66.02% net-loan-to-deposit ratio does not establish liquidity adequacy. Deposit stability, cash flows and asset marketability also matter.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20A7E1-7046-46F2-B4EA-0A37D1EE72D4}"/>
              </a:ext>
            </a:extLst>
          </p:cNvPr>
          <p:cNvSpPr>
            <a:spLocks noGrp="1"/>
          </p:cNvSpPr>
          <p:nvPr/>
        </p:nvSpPr>
        <p:spPr>
          <a:xfrm>
            <a:off x="628650" y="565785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Book equity differs from CET1 and other regulatory capital measures. This snapshot alone cannot establish solvency or risk trends.</a:t>
            </a:r>
          </a:p>
        </p:txBody>
      </p:sp>
    </p:spTree>
    <p:extLst>
      <p:ext uri="{BB962C8B-B14F-4D97-AF65-F5344CB8AC3E}">
        <p14:creationId xmlns:p14="http://schemas.microsoft.com/office/powerpoint/2010/main" val="1492497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BA2D7AF-C601-40B3-A104-E8807CD650C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Five institutions hold 42.46% of assets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B4CB6E-0BFE-4F3F-BAFC-199D511C5007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Institution-level concentration, December 31, 2025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7DB05C-4A56-456E-B0BD-70C708D7EE03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17</a:t>
            </a:r>
          </a:p>
        </p:txBody>
      </p:sp>
      <p:graphicFrame>
        <p:nvGraphicFramePr>
          <p:cNvPr id="9" name="표 8"/>
          <p:cNvGraphicFramePr/>
          <p:nvPr/>
        </p:nvGraphicFramePr>
        <p:xfrm>
          <a:off x="628650" y="1800225"/>
          <a:ext cx="10934700" cy="316230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Institution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Assets, USD bn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Share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JPMorgan Chase Bank, N.A.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3,752.662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Bank of America, N.A.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2,636.823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10.44%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Citibank, National Association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1,836.436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Wells Fargo Bank, N.A.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1,822.693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7.22%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U.S. Bank National Association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676.125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980F1AD-E048-4A80-998A-7D9D5ED29D0A}"/>
              </a:ext>
            </a:extLst>
          </p:cNvPr>
          <p:cNvSpPr>
            <a:spLocks noGrp="1"/>
          </p:cNvSpPr>
          <p:nvPr/>
        </p:nvSpPr>
        <p:spPr>
          <a:xfrm>
            <a:off x="628650" y="5286375"/>
            <a:ext cx="10668000" cy="828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The ranking uses each institution’s assets, sorted in descending order.</a:t>
            </a:r>
          </a:p>
          <a:p>
            <a:pPr>
              <a:defRPr sz="1950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These shares differ from banking holding-company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489890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05D0C26-1B17-40BC-B4FF-5D68B2BFEF6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Large institutions account for most assets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0EBF08-E8E7-4F50-86AB-6F97DFAB587C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Size distribution by each institution’s total assets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242B45-CC5C-4270-857A-D162CA5496F1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628650" y="1762125"/>
          <a:ext cx="10906125" cy="280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표 10"/>
          <p:cNvGraphicFramePr/>
          <p:nvPr/>
        </p:nvGraphicFramePr>
        <p:xfrm>
          <a:off x="628650" y="4800600"/>
          <a:ext cx="5295900" cy="1457325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Asset size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Institution count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&lt; $1bn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$1bn to &lt; $10bn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900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At least $10bn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4378579E-1428-4791-A94D-3C13269B32D9}"/>
              </a:ext>
            </a:extLst>
          </p:cNvPr>
          <p:cNvSpPr>
            <a:spLocks noGrp="1"/>
          </p:cNvSpPr>
          <p:nvPr/>
        </p:nvSpPr>
        <p:spPr>
          <a:xfrm>
            <a:off x="6572250" y="4933950"/>
            <a:ext cx="4953000" cy="1362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Only 152 institutions have at least $10 billion in assets.</a:t>
            </a:r>
          </a:p>
          <a:p>
            <a:endParaRPr sz="2025" b="1">
              <a:solidFill>
                <a:srgbClr val="2A618A"/>
              </a:solidFill>
              <a:latin typeface="Nimbus Sans"/>
              <a:ea typeface="Nimbus Sans"/>
              <a:cs typeface="Nimbus Sans"/>
            </a:endParaRPr>
          </a:p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They hold 85.65% of aggregate assets.</a:t>
            </a:r>
          </a:p>
        </p:txBody>
      </p:sp>
    </p:spTree>
    <p:extLst>
      <p:ext uri="{BB962C8B-B14F-4D97-AF65-F5344CB8AC3E}">
        <p14:creationId xmlns:p14="http://schemas.microsoft.com/office/powerpoint/2010/main" val="149606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B80731B-01B2-44C1-8709-3CB0201DC4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Data vintage and interpretation limits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1033E2-D088-4490-AEE5-1199D849FCD8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The API snapshot and the initial release have different institution counts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1F5A8F4-D518-41D9-ABF9-8FC467E4ADCC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19</a:t>
            </a:r>
          </a:p>
        </p:txBody>
      </p:sp>
      <p:graphicFrame>
        <p:nvGraphicFramePr>
          <p:cNvPr id="11" name="표 10"/>
          <p:cNvGraphicFramePr/>
          <p:nvPr/>
        </p:nvGraphicFramePr>
        <p:xfrm>
          <a:off x="628650" y="1800225"/>
          <a:ext cx="10934700" cy="1676400"/>
        </p:xfrm>
        <a:graphic>
          <a:graphicData uri="http://schemas.openxmlformats.org/drawingml/2006/table">
            <a:tbl>
              <a:tblPr/>
              <a:tblGrid>
                <a:gridCol w="544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Source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Date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Institution count</a:t>
                      </a:r>
                    </a:p>
                  </a:txBody>
                  <a:tcPr>
                    <a:solidFill>
                      <a:srgbClr val="152C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Initial FDIC 2025Q4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February 24,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Repository API snapshot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September 21, 2026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C4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4,338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EBEC55E-3A26-4C97-87EB-8ECD4836FCEF}"/>
              </a:ext>
            </a:extLst>
          </p:cNvPr>
          <p:cNvSpPr>
            <a:spLocks noGrp="1"/>
          </p:cNvSpPr>
          <p:nvPr/>
        </p:nvSpPr>
        <p:spPr>
          <a:xfrm>
            <a:off x="628650" y="3800475"/>
            <a:ext cx="1090612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The cause of the two-institution difference has not been established.</a:t>
            </a:r>
          </a:p>
          <a:p>
            <a:pPr>
              <a:defRPr sz="2025" b="0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The analysis retains every record returned under the stated API filters.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8EF969C-7D9B-4302-9104-7BA5A2B761FE}"/>
              </a:ext>
            </a:extLst>
          </p:cNvPr>
          <p:cNvSpPr>
            <a:spLocks noGrp="1"/>
          </p:cNvSpPr>
          <p:nvPr/>
        </p:nvSpPr>
        <p:spPr>
          <a:xfrm>
            <a:off x="628650" y="4791075"/>
            <a:ext cx="10858500" cy="657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Historical API records can change. The metadata preserves the observed API index and request URLs.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82B104-194C-4E64-87D3-EC0BD75FAFA0}"/>
              </a:ext>
            </a:extLst>
          </p:cNvPr>
          <p:cNvSpPr>
            <a:spLocks noGrp="1"/>
          </p:cNvSpPr>
          <p:nvPr/>
        </p:nvSpPr>
        <p:spPr>
          <a:xfrm>
            <a:off x="628650" y="5667375"/>
            <a:ext cx="10906125" cy="695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The totals sum institutions without interbank netting. One quarter shows a balance-sheet structure, not changes in risk over time.</a:t>
            </a:r>
          </a:p>
        </p:txBody>
      </p:sp>
    </p:spTree>
    <p:extLst>
      <p:ext uri="{BB962C8B-B14F-4D97-AF65-F5344CB8AC3E}">
        <p14:creationId xmlns:p14="http://schemas.microsoft.com/office/powerpoint/2010/main" val="1757833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BC7888-0C89-48EA-9225-4E5CB1BC0B9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152C43"/>
                </a:solidFill>
                <a:latin typeface="Nimbus Sans"/>
                <a:ea typeface="Nimbus Sans"/>
                <a:cs typeface="Nimbus Sans"/>
              </a:rPr>
              <a:t>Conclusions and sources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401928B-3C2D-422E-8FCE-CF68AC102E17}"/>
              </a:ext>
            </a:extLst>
          </p:cNvPr>
          <p:cNvSpPr>
            <a:spLocks noGrp="1"/>
          </p:cNvSpPr>
          <p:nvPr/>
        </p:nvSpPr>
        <p:spPr>
          <a:xfrm>
            <a:off x="628650" y="1095375"/>
            <a:ext cx="1081087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FDIC-insured commercial banks and savings institutions at year-end 2025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59F35C-9F7C-41CB-A230-0009C67FFAED}"/>
              </a:ext>
            </a:extLst>
          </p:cNvPr>
          <p:cNvSpPr>
            <a:spLocks noGrp="1"/>
          </p:cNvSpPr>
          <p:nvPr/>
        </p:nvSpPr>
        <p:spPr>
          <a:xfrm>
            <a:off x="11220450" y="641985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20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72FDEA-3AC1-47F0-9A6C-E55E69E84151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A balanced aggregate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79EC39-D970-4623-A7CB-33F7D5A5B04A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Total assets of $25,257.206 billion equal liabilities plus reported total equity capital.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A366AA-BF4A-4682-8DD1-42A68E7314E0}"/>
              </a:ext>
            </a:extLst>
          </p:cNvPr>
          <p:cNvSpPr>
            <a:spLocks noGrp="1"/>
          </p:cNvSpPr>
          <p:nvPr/>
        </p:nvSpPr>
        <p:spPr>
          <a:xfrm>
            <a:off x="628650" y="29241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Lending and deposit funding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B238BC-D131-4F75-A78F-A71FAF9B959A}"/>
              </a:ext>
            </a:extLst>
          </p:cNvPr>
          <p:cNvSpPr>
            <a:spLocks noGrp="1"/>
          </p:cNvSpPr>
          <p:nvPr/>
        </p:nvSpPr>
        <p:spPr>
          <a:xfrm>
            <a:off x="628650" y="334327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Net loans and leases account for 52.48% of assets. Deposits provide funding equivalent to 79.49% of assets.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8C6F96-6BE8-4919-BC6D-D193D9C8AFE1}"/>
              </a:ext>
            </a:extLst>
          </p:cNvPr>
          <p:cNvSpPr>
            <a:spLocks noGrp="1"/>
          </p:cNvSpPr>
          <p:nvPr/>
        </p:nvSpPr>
        <p:spPr>
          <a:xfrm>
            <a:off x="628650" y="416242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A618A"/>
                </a:solidFill>
                <a:latin typeface="Nimbus Sans"/>
                <a:ea typeface="Nimbus Sans"/>
                <a:cs typeface="Nimbus Sans"/>
              </a:rPr>
              <a:t>Concentration requires context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9F0A84-5C8A-46CD-B1EC-1F906F0F50C0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53C4E"/>
                </a:solidFill>
                <a:latin typeface="Nimbus Sans"/>
                <a:ea typeface="Nimbus Sans"/>
                <a:cs typeface="Nimbus Sans"/>
              </a:rPr>
              <a:t>The five largest institutions hold 42.46% of assets. Interpretation depends on population, data vintage and institution-level scope.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AF8D7E-9AF9-4732-B174-EE1D57338CB4}"/>
              </a:ext>
            </a:extLst>
          </p:cNvPr>
          <p:cNvSpPr>
            <a:spLocks noGrp="1"/>
          </p:cNvSpPr>
          <p:nvPr/>
        </p:nvSpPr>
        <p:spPr>
          <a:xfrm>
            <a:off x="628650" y="5686425"/>
            <a:ext cx="108585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Sources: FDIC BankFind Suite API and variable definitions. FDIC 2025Q4 release.</a:t>
            </a:r>
          </a:p>
          <a:p>
            <a:pPr>
              <a:defRPr sz="1500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Repository: 20206449_FDIC_2025Q4.py, institution CSV, aggregate CSV and run metadata.</a:t>
            </a:r>
          </a:p>
          <a:p>
            <a:pPr>
              <a:defRPr sz="1500" b="0">
                <a:solidFill>
                  <a:srgbClr val="607588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607588"/>
                </a:solidFill>
                <a:latin typeface="Nimbus Sans"/>
                <a:ea typeface="Nimbus Sans"/>
                <a:cs typeface="Nimbus Sans"/>
              </a:rPr>
              <a:t>Full source URLs appear in the slide notes.</a:t>
            </a:r>
          </a:p>
        </p:txBody>
      </p:sp>
    </p:spTree>
    <p:extLst>
      <p:ext uri="{BB962C8B-B14F-4D97-AF65-F5344CB8AC3E}">
        <p14:creationId xmlns:p14="http://schemas.microsoft.com/office/powerpoint/2010/main" val="12645794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3322</Words>
  <Application>Microsoft Macintosh PowerPoint</Application>
  <DocSecurity>0</DocSecurity>
  <PresentationFormat>와이드스크린</PresentationFormat>
  <Paragraphs>424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Nimbus Sans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국준호</cp:lastModifiedBy>
  <cp:revision>1</cp:revision>
  <dcterms:created xsi:type="dcterms:W3CDTF">2026-09-21T14:55:54Z</dcterms:created>
  <dcterms:modified xsi:type="dcterms:W3CDTF">2026-09-21T15:02:12Z</dcterms:modified>
</cp:coreProperties>
</file>