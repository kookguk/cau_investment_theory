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Financial assets</c:v>
          </c:tx>
          <c:spPr>
            <a:solidFill>
              <a:srgbClr val="176B8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 b="1">
                    <a:solidFill>
                      <a:srgbClr val="FFFFFF"/>
                    </a:solidFill>
                    <a:latin typeface="Bitstream Charter"/>
                    <a:ea typeface="Bitstream Charter"/>
                    <a:cs typeface="Bitstream Charter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Data'!$A$2:$A$2</c:f>
              <c:strCache>
                <c:ptCount val="1"/>
                <c:pt idx="0">
                  <c:v>2026:Q1</c:v>
                </c:pt>
              </c:strCache>
            </c:strRef>
          </c:cat>
          <c:val>
            <c:numRef>
              <c:f>'Chart Data'!$B$2:$B$2</c:f>
              <c:numCache>
                <c:formatCode>0.0%</c:formatCode>
                <c:ptCount val="1"/>
                <c:pt idx="0">
                  <c:v>0.69269999999999998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8F1-46C2-BEBB-DAADD4DCA5AF}"/>
            </c:ext>
          </c:extLst>
        </c:ser>
        <c:ser>
          <c:idx val="1"/>
          <c:order val="1"/>
          <c:tx>
            <c:v>Nonfinancial assets</c:v>
          </c:tx>
          <c:spPr>
            <a:solidFill>
              <a:srgbClr val="D6A84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 b="1">
                    <a:solidFill>
                      <a:srgbClr val="FFFFFF"/>
                    </a:solidFill>
                    <a:latin typeface="Bitstream Charter"/>
                    <a:ea typeface="Bitstream Charter"/>
                    <a:cs typeface="Bitstream Charter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Data'!$C$2:$C$2</c:f>
              <c:strCache>
                <c:ptCount val="1"/>
                <c:pt idx="0">
                  <c:v>2026:Q1</c:v>
                </c:pt>
              </c:strCache>
            </c:strRef>
          </c:cat>
          <c:val>
            <c:numRef>
              <c:f>'Chart Data'!$D$2:$D$2</c:f>
              <c:numCache>
                <c:formatCode>0.0%</c:formatCode>
                <c:ptCount val="1"/>
                <c:pt idx="0">
                  <c:v>0.30730000000000002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8F1-46C2-BEBB-DAADD4DCA5A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Bitstream Charter"/>
                    <a:ea typeface="Bitstream Charter"/>
                    <a:cs typeface="Bitstream Charter"/>
                  </a:rPr>
                  <a:t>% of total assets</a:t>
                </a:r>
              </a:p>
            </c:rich>
          </c:tx>
          <c:layout/>
          <c:overlay val="0"/>
        </c:title>
        <c:numFmt formatCode="0.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  <a:endParaRPr lang="ko-KR"/>
          </a:p>
        </c:txPr>
        <c:crossAx val="48650112"/>
        <c:crosses val="autoZero"/>
        <c:crossBetween val="between"/>
        <c:majorUnit val="0.2"/>
      </c:valAx>
    </c:plotArea>
    <c:legend>
      <c:legendPos val="b"/>
      <c:layout/>
      <c:overlay val="0"/>
      <c:txPr>
        <a:bodyPr anchorCtr="1"/>
        <a:lstStyle/>
        <a:p>
          <a:pPr>
            <a:defRPr>
              <a:latin typeface="Bitstream Charter"/>
              <a:ea typeface="Bitstream Charter"/>
              <a:cs typeface="Bitstream Charter"/>
            </a:defRPr>
          </a:pPr>
          <a:endParaRPr lang="ko-KR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2026:Q1</c:v>
          </c:tx>
          <c:spPr>
            <a:solidFill>
              <a:srgbClr val="176B8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7212B"/>
                    </a:solidFill>
                    <a:latin typeface="Bitstream Charter"/>
                    <a:ea typeface="Bitstream Charter"/>
                    <a:cs typeface="Bitstream Charter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Data'!$A$2:$A$9</c:f>
              <c:strCache>
                <c:ptCount val="8"/>
                <c:pt idx="0">
                  <c:v>Direct corporate equities</c:v>
                </c:pt>
                <c:pt idx="1">
                  <c:v>Deposits</c:v>
                </c:pt>
                <c:pt idx="2">
                  <c:v>Indirect corporate equities</c:v>
                </c:pt>
                <c:pt idx="3">
                  <c:v>DB pensions</c:v>
                </c:pt>
                <c:pt idx="4">
                  <c:v>Noncorporate business equity</c:v>
                </c:pt>
                <c:pt idx="5">
                  <c:v>Other financial assets</c:v>
                </c:pt>
                <c:pt idx="6">
                  <c:v>Indirect debt securities</c:v>
                </c:pt>
                <c:pt idx="7">
                  <c:v>Direct debt securities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44.008000000000003</c:v>
                </c:pt>
                <c:pt idx="1">
                  <c:v>20.329999999999998</c:v>
                </c:pt>
                <c:pt idx="2">
                  <c:v>19.308</c:v>
                </c:pt>
                <c:pt idx="3">
                  <c:v>16.658999999999999</c:v>
                </c:pt>
                <c:pt idx="4">
                  <c:v>16.59</c:v>
                </c:pt>
                <c:pt idx="5">
                  <c:v>13.09</c:v>
                </c:pt>
                <c:pt idx="6">
                  <c:v>6.06</c:v>
                </c:pt>
                <c:pt idx="7">
                  <c:v>5.7350000000000003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E99-485C-B3D2-B8EEE7B9948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CBD5DF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>
                    <a:latin typeface="Bitstream Charter"/>
                    <a:ea typeface="Bitstream Charter"/>
                    <a:cs typeface="Bitstream Charter"/>
                  </a:rPr>
                  <a:t>$ trillions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  <a:endParaRPr lang="ko-KR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v>Share of liabilities</c:v>
          </c:tx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>
                    <a:solidFill>
                      <a:srgbClr val="17212B"/>
                    </a:solidFill>
                    <a:latin typeface="Bitstream Charter"/>
                    <a:ea typeface="Bitstream Charter"/>
                    <a:cs typeface="Bitstream Charter"/>
                  </a:defRPr>
                </a:pPr>
                <a:endParaRPr lang="ko-K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'Chart Data'!$A$2:$A$4</c:f>
              <c:strCache>
                <c:ptCount val="3"/>
                <c:pt idx="0">
                  <c:v>Home mortgages</c:v>
                </c:pt>
                <c:pt idx="1">
                  <c:v>Consumer credit</c:v>
                </c:pt>
                <c:pt idx="2">
                  <c:v>Other liabilities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0.64</c:v>
                </c:pt>
                <c:pt idx="1">
                  <c:v>0.23480000000000001</c:v>
                </c:pt>
                <c:pt idx="2">
                  <c:v>0.12520000000000001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41-4A5B-AA11-76A57D06A6F5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8"/>
      </c:doughnutChart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Board of Governors of the Federal Reserve System, Financial Accounts of the United States, Z.1, September 11, 2026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https://www.federalreserve.gov/releases/z1/ and https://www.federalreserve.gov/releases/z1/dataviz/z1/balance_sheet/table/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Federal Reserve Z.1 Household Balance Sheet, 2026:Q1, September 11, 2026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Federal Reserve Z.1, 2026:Q1.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Federal Reserve Z.1, 2026:Q1. Selected financial-asset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Federal Reserve Z.1, 2026:Q1. Shares use total liabilities as the denominator.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7CBF475E-9427-4446-9A2D-845E658F53A9}"/>
              </a:ext>
            </a:extLst>
          </p:cNvPr>
          <p:cNvSpPr>
            <a:spLocks noGrp="1"/>
          </p:cNvSpPr>
          <p:nvPr/>
        </p:nvSpPr>
        <p:spPr>
          <a:xfrm>
            <a:off x="666750" y="619125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64CC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64CCC5"/>
                </a:solidFill>
                <a:latin typeface="Bitstream Charter"/>
                <a:ea typeface="Bitstream Charter"/>
                <a:cs typeface="Bitstream Charter"/>
              </a:rPr>
              <a:t>FINANCIAL ACCOUNTS OF THE UNITED STATES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E28E7E7-C381-456C-AED9-A4918E19680A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7239000" cy="1571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4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U.S. Household</a:t>
            </a:r>
          </a:p>
          <a:p>
            <a:pPr algn="l">
              <a:defRPr sz="4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Balance Sheet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DCD92F4-E738-4037-8362-058512FB5395}"/>
              </a:ext>
            </a:extLst>
          </p:cNvPr>
          <p:cNvSpPr>
            <a:spLocks noGrp="1"/>
          </p:cNvSpPr>
          <p:nvPr/>
        </p:nvSpPr>
        <p:spPr>
          <a:xfrm>
            <a:off x="714375" y="3238500"/>
            <a:ext cx="4000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325" b="0">
                <a:solidFill>
                  <a:srgbClr val="F4F1E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F4F1EA"/>
                </a:solidFill>
                <a:latin typeface="Bitstream Charter"/>
                <a:ea typeface="Bitstream Charter"/>
                <a:cs typeface="Bitstream Charter"/>
              </a:rPr>
              <a:t>2026:Q1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B8BB8F4-A652-4FF1-B243-01739AA9110A}"/>
              </a:ext>
            </a:extLst>
          </p:cNvPr>
          <p:cNvSpPr>
            <a:spLocks noGrp="1"/>
          </p:cNvSpPr>
          <p:nvPr/>
        </p:nvSpPr>
        <p:spPr>
          <a:xfrm>
            <a:off x="8334375" y="2000250"/>
            <a:ext cx="285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3900" b="1">
                <a:solidFill>
                  <a:srgbClr val="64CC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64CCC5"/>
                </a:solidFill>
                <a:latin typeface="Bitstream Charter"/>
                <a:ea typeface="Bitstream Charter"/>
                <a:cs typeface="Bitstream Charter"/>
              </a:rPr>
              <a:t>$204.7T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E01A49-2003-43A5-BF1E-8300F38C57C1}"/>
              </a:ext>
            </a:extLst>
          </p:cNvPr>
          <p:cNvSpPr>
            <a:spLocks noGrp="1"/>
          </p:cNvSpPr>
          <p:nvPr/>
        </p:nvSpPr>
        <p:spPr>
          <a:xfrm>
            <a:off x="8334375" y="27622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5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total assets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3A4B438-4BCD-4ABB-99C9-0E28A306480C}"/>
              </a:ext>
            </a:extLst>
          </p:cNvPr>
          <p:cNvSpPr>
            <a:spLocks noGrp="1"/>
          </p:cNvSpPr>
          <p:nvPr/>
        </p:nvSpPr>
        <p:spPr>
          <a:xfrm>
            <a:off x="8334375" y="3857625"/>
            <a:ext cx="2857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3900" b="1">
                <a:solidFill>
                  <a:srgbClr val="D6A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D6A84B"/>
                </a:solidFill>
                <a:latin typeface="Bitstream Charter"/>
                <a:ea typeface="Bitstream Charter"/>
                <a:cs typeface="Bitstream Charter"/>
              </a:rPr>
              <a:t>$183.1T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56CB9A-94AD-4C63-83E4-C68E5FD74ED4}"/>
              </a:ext>
            </a:extLst>
          </p:cNvPr>
          <p:cNvSpPr>
            <a:spLocks noGrp="1"/>
          </p:cNvSpPr>
          <p:nvPr/>
        </p:nvSpPr>
        <p:spPr>
          <a:xfrm>
            <a:off x="8334375" y="4619625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5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net worth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E20CE5-C64A-4D09-A0D5-0577185FE539}"/>
              </a:ext>
            </a:extLst>
          </p:cNvPr>
          <p:cNvSpPr>
            <a:spLocks noGrp="1"/>
          </p:cNvSpPr>
          <p:nvPr/>
        </p:nvSpPr>
        <p:spPr>
          <a:xfrm>
            <a:off x="685800" y="6048375"/>
            <a:ext cx="4286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64CCC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64CCC5"/>
                </a:solidFill>
                <a:latin typeface="Bitstream Charter"/>
                <a:ea typeface="Bitstream Charter"/>
                <a:cs typeface="Bitstream Charter"/>
              </a:rPr>
              <a:t>Python demonstration project</a:t>
            </a:r>
          </a:p>
        </p:txBody>
      </p:sp>
    </p:spTree>
    <p:extLst>
      <p:ext uri="{BB962C8B-B14F-4D97-AF65-F5344CB8AC3E}">
        <p14:creationId xmlns:p14="http://schemas.microsoft.com/office/powerpoint/2010/main" val="1993428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612CC912-DE91-4F41-BE37-654994EAEEE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DEMO PROJECT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2C81CD3-763E-4BB2-9789-D66E1247322A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Project objective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6728CA0-D6F8-4DD4-A184-75CE910C80ED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 latinLnBrk="0">
              <a:def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F54F083-E96B-43B2-9D51-36D65334706F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5334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Build the 2026:Q1 balance sheet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21A934-B75D-4FB3-ABFE-9B033F2E0D15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5238750" cy="2857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 algn="l" latinLnBrk="0">
              <a:spcAft>
                <a:spcPts val="800"/>
              </a:spcAft>
              <a:buChar char="•"/>
              <a:defRPr sz="17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 dirty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Retrieve the official Federal Reserve Z.1 data</a:t>
            </a:r>
          </a:p>
          <a:p>
            <a:pPr marL="228600" indent="-114300" algn="l" latinLnBrk="0">
              <a:spcAft>
                <a:spcPts val="800"/>
              </a:spcAft>
              <a:buChar char="•"/>
              <a:defRPr sz="17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 dirty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Translate series codes into readable accounts</a:t>
            </a:r>
          </a:p>
          <a:p>
            <a:pPr marL="228600" indent="-114300" algn="l" latinLnBrk="0">
              <a:spcAft>
                <a:spcPts val="800"/>
              </a:spcAft>
              <a:buChar char="•"/>
              <a:defRPr sz="17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 dirty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Verify the balance-sheet identities</a:t>
            </a:r>
          </a:p>
          <a:p>
            <a:pPr marL="228600" indent="-114300" algn="l" latinLnBrk="0">
              <a:spcAft>
                <a:spcPts val="800"/>
              </a:spcAft>
              <a:buChar char="•"/>
              <a:defRPr sz="17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 dirty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Describe the composition of assets and liabilities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DAE7F11-FF20-45FC-AFC7-0B2FC2B9E6AA}"/>
              </a:ext>
            </a:extLst>
          </p:cNvPr>
          <p:cNvSpPr>
            <a:spLocks noGrp="1"/>
          </p:cNvSpPr>
          <p:nvPr/>
        </p:nvSpPr>
        <p:spPr>
          <a:xfrm>
            <a:off x="7096125" y="161925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875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Single-period design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64EC311-21C8-4C01-96A0-1096A1D710D1}"/>
              </a:ext>
            </a:extLst>
          </p:cNvPr>
          <p:cNvSpPr>
            <a:spLocks noGrp="1"/>
          </p:cNvSpPr>
          <p:nvPr/>
        </p:nvSpPr>
        <p:spPr>
          <a:xfrm>
            <a:off x="7096125" y="2238375"/>
            <a:ext cx="3810000" cy="2000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8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The program examines one quarter. It does not calculate growth, portfolio shifts, or investment performance across time.</a:t>
            </a:r>
          </a:p>
        </p:txBody>
      </p:sp>
    </p:spTree>
    <p:extLst>
      <p:ext uri="{BB962C8B-B14F-4D97-AF65-F5344CB8AC3E}">
        <p14:creationId xmlns:p14="http://schemas.microsoft.com/office/powerpoint/2010/main" val="62910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71334848-06EB-4E8A-B777-792A705BAD4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DEMO PROJECT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53F468-3938-4087-A47B-9ABB74A0DEFA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Sector definition and measurement scope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F6C6F1-4A25-450C-B740-82C1512E5BF3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 latinLnBrk="0">
              <a:def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6696663-1DE3-4639-BE12-9A229CE64269}"/>
              </a:ext>
            </a:extLst>
          </p:cNvPr>
          <p:cNvSpPr>
            <a:spLocks noGrp="1"/>
          </p:cNvSpPr>
          <p:nvPr/>
        </p:nvSpPr>
        <p:spPr>
          <a:xfrm>
            <a:off x="762000" y="1476375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3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Official sector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1DAF-47AA-42FC-A86F-711601B3478F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4857750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Households and nonprofit organizations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73F0979-40AF-4602-BCFB-3AB60569D5C1}"/>
              </a:ext>
            </a:extLst>
          </p:cNvPr>
          <p:cNvSpPr>
            <a:spLocks noGrp="1"/>
          </p:cNvSpPr>
          <p:nvPr/>
        </p:nvSpPr>
        <p:spPr>
          <a:xfrm>
            <a:off x="6334125" y="1476375"/>
            <a:ext cx="4857750" cy="2667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 algn="l" latinLnBrk="0">
              <a:spcAft>
                <a:spcPts val="800"/>
              </a:spcAft>
              <a:buChar char="•"/>
              <a:defRPr sz="17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Quarter-end stock values</a:t>
            </a:r>
          </a:p>
          <a:p>
            <a:pPr marL="228600" indent="-114300" algn="l" latinLnBrk="0">
              <a:spcAft>
                <a:spcPts val="800"/>
              </a:spcAft>
              <a:buChar char="•"/>
              <a:defRPr sz="17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Current U.S. dollars</a:t>
            </a:r>
          </a:p>
          <a:p>
            <a:pPr marL="228600" indent="-114300" algn="l" latinLnBrk="0">
              <a:spcAft>
                <a:spcPts val="800"/>
              </a:spcAft>
              <a:buChar char="•"/>
              <a:defRPr sz="17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Amounts reported in millions</a:t>
            </a:r>
          </a:p>
          <a:p>
            <a:pPr marL="228600" indent="-114300" algn="l" latinLnBrk="0">
              <a:spcAft>
                <a:spcPts val="800"/>
              </a:spcAft>
              <a:buChar char="•"/>
              <a:defRPr sz="17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Market values for several asset categories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A2CBDD-5C52-4191-956C-B2C6423E42DA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650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rPr>
              <a:t>The slides use “households” as shorthand while retaining the Federal Reserve’s official sector definition.</a:t>
            </a:r>
          </a:p>
        </p:txBody>
      </p:sp>
    </p:spTree>
    <p:extLst>
      <p:ext uri="{BB962C8B-B14F-4D97-AF65-F5344CB8AC3E}">
        <p14:creationId xmlns:p14="http://schemas.microsoft.com/office/powerpoint/2010/main" val="1819918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5243C3DB-E1E8-407E-8804-B5C2C48F693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DEMO PROJECT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30AA705-925E-4501-84FB-D6C33F1C19DB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Official Federal Reserve data source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AF7B18D-F475-41F4-B040-A33AA74921EA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 latinLnBrk="0">
              <a:def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5FCE78-6497-492D-8A42-07187FA95F29}"/>
              </a:ext>
            </a:extLst>
          </p:cNvPr>
          <p:cNvSpPr>
            <a:spLocks noGrp="1"/>
          </p:cNvSpPr>
          <p:nvPr/>
        </p:nvSpPr>
        <p:spPr>
          <a:xfrm>
            <a:off x="762000" y="1476375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20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Machine-readable download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4EC1ED5-35C1-45DE-A517-03EC14454A3F}"/>
              </a:ext>
            </a:extLst>
          </p:cNvPr>
          <p:cNvSpPr>
            <a:spLocks noGrp="1"/>
          </p:cNvSpPr>
          <p:nvPr/>
        </p:nvSpPr>
        <p:spPr>
          <a:xfrm>
            <a:off x="762000" y="2047875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800" b="0">
                <a:solidFill>
                  <a:srgbClr val="176B87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76B87"/>
                </a:solidFill>
                <a:latin typeface="Aptos Mono"/>
                <a:ea typeface="Aptos Mono"/>
                <a:cs typeface="Aptos Mono"/>
              </a:rPr>
              <a:t>z1-visualization.zip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53443B-2E83-45E4-816B-7837E68472B5}"/>
              </a:ext>
            </a:extLst>
          </p:cNvPr>
          <p:cNvSpPr>
            <a:spLocks noGrp="1"/>
          </p:cNvSpPr>
          <p:nvPr/>
        </p:nvSpPr>
        <p:spPr>
          <a:xfrm>
            <a:off x="762000" y="2905125"/>
            <a:ext cx="5143500" cy="2667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 algn="l" latinLnBrk="0">
              <a:spcAft>
                <a:spcPts val="800"/>
              </a:spcAft>
              <a:buChar char="•"/>
              <a:def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Published with the Financial Accounts of the United States</a:t>
            </a:r>
          </a:p>
          <a:p>
            <a:pPr marL="228600" indent="-114300" algn="l" latinLnBrk="0">
              <a:spcAft>
                <a:spcPts val="800"/>
              </a:spcAft>
              <a:buChar char="•"/>
              <a:def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Contains a CSV file and series dictionary</a:t>
            </a:r>
          </a:p>
          <a:p>
            <a:pPr marL="228600" indent="-114300" algn="l" latinLnBrk="0">
              <a:spcAft>
                <a:spcPts val="800"/>
              </a:spcAft>
              <a:buChar char="•"/>
              <a:def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Requires no API key</a:t>
            </a:r>
          </a:p>
          <a:p>
            <a:pPr marL="228600" indent="-114300" algn="l" latinLnBrk="0">
              <a:spcAft>
                <a:spcPts val="800"/>
              </a:spcAft>
              <a:buChar char="•"/>
              <a:def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Current release dated September 11, 2026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F57D27-E135-4DF7-A8C9-3676091EC114}"/>
              </a:ext>
            </a:extLst>
          </p:cNvPr>
          <p:cNvSpPr>
            <a:spLocks noGrp="1"/>
          </p:cNvSpPr>
          <p:nvPr/>
        </p:nvSpPr>
        <p:spPr>
          <a:xfrm>
            <a:off x="6810375" y="1952625"/>
            <a:ext cx="400050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20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The program reads the CSV directly from the ZIP file and selects the row labeled 2026:Q1.</a:t>
            </a:r>
          </a:p>
        </p:txBody>
      </p:sp>
    </p:spTree>
    <p:extLst>
      <p:ext uri="{BB962C8B-B14F-4D97-AF65-F5344CB8AC3E}">
        <p14:creationId xmlns:p14="http://schemas.microsoft.com/office/powerpoint/2010/main" val="538520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0E33F09E-6D5C-49C2-9CE9-AA3A37E62CF2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CODE LOGIC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4D4F3ED-C555-48CC-B272-027C13DFAB2B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Program workflow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1ABAD23-D5E5-46B5-A924-05A3EAA2FEE8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A96D2D6-101D-4A03-BA61-24A31CCC0C01}"/>
              </a:ext>
            </a:extLst>
          </p:cNvPr>
          <p:cNvSpPr>
            <a:spLocks noGrp="1"/>
          </p:cNvSpPr>
          <p:nvPr/>
        </p:nvSpPr>
        <p:spPr>
          <a:xfrm>
            <a:off x="857250" y="13335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B5FFA14-E4E9-460C-8343-6937D0DE06C2}"/>
              </a:ext>
            </a:extLst>
          </p:cNvPr>
          <p:cNvSpPr>
            <a:spLocks noGrp="1"/>
          </p:cNvSpPr>
          <p:nvPr/>
        </p:nvSpPr>
        <p:spPr>
          <a:xfrm>
            <a:off x="1714500" y="1333500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Download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FBBCD0F-0A8A-427B-BAE5-8F831363C291}"/>
              </a:ext>
            </a:extLst>
          </p:cNvPr>
          <p:cNvSpPr>
            <a:spLocks noGrp="1"/>
          </p:cNvSpPr>
          <p:nvPr/>
        </p:nvSpPr>
        <p:spPr>
          <a:xfrm>
            <a:off x="3857625" y="1333500"/>
            <a:ext cx="6858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Retrieve the official ZIP file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146C5E5-1F34-43E9-A226-DFC8105A1DAF}"/>
              </a:ext>
            </a:extLst>
          </p:cNvPr>
          <p:cNvSpPr>
            <a:spLocks noGrp="1"/>
          </p:cNvSpPr>
          <p:nvPr/>
        </p:nvSpPr>
        <p:spPr>
          <a:xfrm>
            <a:off x="857250" y="20193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DFF0C8-B8D7-4CC5-8273-FC36A9C699C9}"/>
              </a:ext>
            </a:extLst>
          </p:cNvPr>
          <p:cNvSpPr>
            <a:spLocks noGrp="1"/>
          </p:cNvSpPr>
          <p:nvPr/>
        </p:nvSpPr>
        <p:spPr>
          <a:xfrm>
            <a:off x="1714500" y="2019300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Extract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99148CF-E844-49CD-839E-DED72B0007E0}"/>
              </a:ext>
            </a:extLst>
          </p:cNvPr>
          <p:cNvSpPr>
            <a:spLocks noGrp="1"/>
          </p:cNvSpPr>
          <p:nvPr/>
        </p:nvSpPr>
        <p:spPr>
          <a:xfrm>
            <a:off x="3857625" y="2019300"/>
            <a:ext cx="6858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Read the CSV in memory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9D8450C-51F7-459F-A8EC-A8F271AA1E6F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9057B31-ADFE-4B25-B2FA-3F5B2BA00822}"/>
              </a:ext>
            </a:extLst>
          </p:cNvPr>
          <p:cNvSpPr>
            <a:spLocks noGrp="1"/>
          </p:cNvSpPr>
          <p:nvPr/>
        </p:nvSpPr>
        <p:spPr>
          <a:xfrm>
            <a:off x="1714500" y="2705100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Select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004BC1-37A2-4FD7-86C6-48B1102ADF60}"/>
              </a:ext>
            </a:extLst>
          </p:cNvPr>
          <p:cNvSpPr>
            <a:spLocks noGrp="1"/>
          </p:cNvSpPr>
          <p:nvPr/>
        </p:nvSpPr>
        <p:spPr>
          <a:xfrm>
            <a:off x="3857625" y="2705100"/>
            <a:ext cx="6858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Keep the 2026:Q1 row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2C46D2E-C68F-4EAF-814E-05A4B7185931}"/>
              </a:ext>
            </a:extLst>
          </p:cNvPr>
          <p:cNvSpPr>
            <a:spLocks noGrp="1"/>
          </p:cNvSpPr>
          <p:nvPr/>
        </p:nvSpPr>
        <p:spPr>
          <a:xfrm>
            <a:off x="857250" y="33909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C7C5A86-37D8-44DB-8BED-3EF7FA881F84}"/>
              </a:ext>
            </a:extLst>
          </p:cNvPr>
          <p:cNvSpPr>
            <a:spLocks noGrp="1"/>
          </p:cNvSpPr>
          <p:nvPr/>
        </p:nvSpPr>
        <p:spPr>
          <a:xfrm>
            <a:off x="1714500" y="3390900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Map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F718A2A-20FF-4048-9DFB-3E5C8A83DEB9}"/>
              </a:ext>
            </a:extLst>
          </p:cNvPr>
          <p:cNvSpPr>
            <a:spLocks noGrp="1"/>
          </p:cNvSpPr>
          <p:nvPr/>
        </p:nvSpPr>
        <p:spPr>
          <a:xfrm>
            <a:off x="3857625" y="3390900"/>
            <a:ext cx="6858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Replace series codes with account names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E91C2B6-E1C4-4C59-85DA-A2E0BA04E0A6}"/>
              </a:ext>
            </a:extLst>
          </p:cNvPr>
          <p:cNvSpPr>
            <a:spLocks noGrp="1"/>
          </p:cNvSpPr>
          <p:nvPr/>
        </p:nvSpPr>
        <p:spPr>
          <a:xfrm>
            <a:off x="857250" y="40767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03A251D-ABBE-4060-ACA1-02570C83B9E0}"/>
              </a:ext>
            </a:extLst>
          </p:cNvPr>
          <p:cNvSpPr>
            <a:spLocks noGrp="1"/>
          </p:cNvSpPr>
          <p:nvPr/>
        </p:nvSpPr>
        <p:spPr>
          <a:xfrm>
            <a:off x="1714500" y="4076700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Convert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0C127CE-744B-49E3-BF4C-C11EC91A874F}"/>
              </a:ext>
            </a:extLst>
          </p:cNvPr>
          <p:cNvSpPr>
            <a:spLocks noGrp="1"/>
          </p:cNvSpPr>
          <p:nvPr/>
        </p:nvSpPr>
        <p:spPr>
          <a:xfrm>
            <a:off x="3857625" y="4076700"/>
            <a:ext cx="6858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Change millions to billions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6F0D440-CF32-4AE9-8DE8-E0258FA10206}"/>
              </a:ext>
            </a:extLst>
          </p:cNvPr>
          <p:cNvSpPr>
            <a:spLocks noGrp="1"/>
          </p:cNvSpPr>
          <p:nvPr/>
        </p:nvSpPr>
        <p:spPr>
          <a:xfrm>
            <a:off x="857250" y="47625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2769954-2ED4-4395-A20C-2D4C5E564EBC}"/>
              </a:ext>
            </a:extLst>
          </p:cNvPr>
          <p:cNvSpPr>
            <a:spLocks noGrp="1"/>
          </p:cNvSpPr>
          <p:nvPr/>
        </p:nvSpPr>
        <p:spPr>
          <a:xfrm>
            <a:off x="1714500" y="4762500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Validate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FA243F6-8A24-4046-B740-32AAE0E5ED3E}"/>
              </a:ext>
            </a:extLst>
          </p:cNvPr>
          <p:cNvSpPr>
            <a:spLocks noGrp="1"/>
          </p:cNvSpPr>
          <p:nvPr/>
        </p:nvSpPr>
        <p:spPr>
          <a:xfrm>
            <a:off x="3857625" y="4762500"/>
            <a:ext cx="6858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Check accounting identities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EDE503C-5417-4BC6-B458-ABF4A87105C1}"/>
              </a:ext>
            </a:extLst>
          </p:cNvPr>
          <p:cNvSpPr>
            <a:spLocks noGrp="1"/>
          </p:cNvSpPr>
          <p:nvPr/>
        </p:nvSpPr>
        <p:spPr>
          <a:xfrm>
            <a:off x="857250" y="54483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248CC0A-713D-4F19-B541-D3D18C9CFA77}"/>
              </a:ext>
            </a:extLst>
          </p:cNvPr>
          <p:cNvSpPr>
            <a:spLocks noGrp="1"/>
          </p:cNvSpPr>
          <p:nvPr/>
        </p:nvSpPr>
        <p:spPr>
          <a:xfrm>
            <a:off x="1714500" y="5448300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Export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2C79D4E-9A67-43D2-B65D-7925B99E385D}"/>
              </a:ext>
            </a:extLst>
          </p:cNvPr>
          <p:cNvSpPr>
            <a:spLocks noGrp="1"/>
          </p:cNvSpPr>
          <p:nvPr/>
        </p:nvSpPr>
        <p:spPr>
          <a:xfrm>
            <a:off x="3857625" y="5448300"/>
            <a:ext cx="6858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Save the balance sheet as CSV</a:t>
            </a:r>
          </a:p>
        </p:txBody>
      </p:sp>
    </p:spTree>
    <p:extLst>
      <p:ext uri="{BB962C8B-B14F-4D97-AF65-F5344CB8AC3E}">
        <p14:creationId xmlns:p14="http://schemas.microsoft.com/office/powerpoint/2010/main" val="810084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DC6F149-161C-4674-8564-AAF860AE5D0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KEY PYTHON SYNTAX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566534E-8C16-44D1-AEBD-14C26B5C3492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Imports and constants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D8E0853-F9B8-40FD-9BAF-F04447EE5CD9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 latinLnBrk="0">
              <a:def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487CCF1-00A3-43C8-8E9C-38DB83D3175D}"/>
              </a:ext>
            </a:extLst>
          </p:cNvPr>
          <p:cNvSpPr>
            <a:spLocks noGrp="1"/>
          </p:cNvSpPr>
          <p:nvPr/>
        </p:nvSpPr>
        <p:spPr>
          <a:xfrm>
            <a:off x="666750" y="1333500"/>
            <a:ext cx="7239000" cy="43338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DF"/>
            </a:solidFill>
          </a:ln>
        </p:spPr>
        <p:txBody>
          <a:bodyPr anchor="t">
            <a:noAutofit/>
          </a:bodyPr>
          <a:lstStyle/>
          <a:p>
            <a:pPr algn="l" latinLnBrk="0">
              <a:defRPr sz="157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from io import BytesIO</a:t>
            </a:r>
          </a:p>
          <a:p>
            <a:pPr algn="l" latinLnBrk="0">
              <a:defRPr sz="157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from urllib.request import Request, urlopen</a:t>
            </a:r>
          </a:p>
          <a:p>
            <a:pPr algn="l" latinLnBrk="0">
              <a:defRPr sz="157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from zipfile import ZipFile</a:t>
            </a:r>
          </a:p>
          <a:p>
            <a:pPr algn="l" latinLnBrk="0">
              <a:defRPr sz="157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import pandas as pd</a:t>
            </a:r>
          </a:p>
          <a:p>
            <a:pPr latinLnBrk="0"/>
            <a:endParaRPr sz="1575" b="0">
              <a:solidFill>
                <a:srgbClr val="17212B"/>
              </a:solidFill>
              <a:latin typeface="Aptos Mono"/>
              <a:ea typeface="Aptos Mono"/>
              <a:cs typeface="Aptos Mono"/>
            </a:endParaRPr>
          </a:p>
          <a:p>
            <a:pPr algn="l" latinLnBrk="0">
              <a:defRPr sz="157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DATA_URL = (</a:t>
            </a:r>
          </a:p>
          <a:p>
            <a:pPr algn="l" latinLnBrk="0">
              <a:defRPr sz="157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  "https://www.federalreserve.gov/releases/z1/"</a:t>
            </a:r>
          </a:p>
          <a:p>
            <a:pPr algn="l" latinLnBrk="0">
              <a:defRPr sz="157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  "dataviz/download/zips/z1-visualization.zip"</a:t>
            </a:r>
          </a:p>
          <a:p>
            <a:pPr algn="l" latinLnBrk="0">
              <a:defRPr sz="157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 algn="l" latinLnBrk="0">
              <a:defRPr sz="157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TARGET_QUARTER = "2026:Q1"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FF8139-3500-4EA4-A11F-0421F822E13E}"/>
              </a:ext>
            </a:extLst>
          </p:cNvPr>
          <p:cNvSpPr>
            <a:spLocks noGrp="1"/>
          </p:cNvSpPr>
          <p:nvPr/>
        </p:nvSpPr>
        <p:spPr>
          <a:xfrm>
            <a:off x="8382000" y="1524000"/>
            <a:ext cx="3048000" cy="2857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 algn="l" latinLnBrk="0">
              <a:spcAft>
                <a:spcPts val="800"/>
              </a:spcAft>
              <a:buChar char="•"/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BytesIO keeps the ZIP file in memory</a:t>
            </a:r>
          </a:p>
          <a:p>
            <a:pPr marL="228600" indent="-114300" algn="l" latinLnBrk="0">
              <a:spcAft>
                <a:spcPts val="800"/>
              </a:spcAft>
              <a:buChar char="•"/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urlopen retrieves the official file</a:t>
            </a:r>
          </a:p>
          <a:p>
            <a:pPr marL="228600" indent="-114300" algn="l" latinLnBrk="0">
              <a:spcAft>
                <a:spcPts val="800"/>
              </a:spcAft>
              <a:buChar char="•"/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ZipFile opens the archive</a:t>
            </a:r>
          </a:p>
          <a:p>
            <a:pPr marL="228600" indent="-114300" algn="l" latinLnBrk="0">
              <a:spcAft>
                <a:spcPts val="800"/>
              </a:spcAft>
              <a:buChar char="•"/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pandas constructs the balance sheet</a:t>
            </a:r>
          </a:p>
        </p:txBody>
      </p:sp>
    </p:spTree>
    <p:extLst>
      <p:ext uri="{BB962C8B-B14F-4D97-AF65-F5344CB8AC3E}">
        <p14:creationId xmlns:p14="http://schemas.microsoft.com/office/powerpoint/2010/main" val="859868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1E52257-B809-4689-9266-4199A42DD3E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KEY PYTHON SYNTAX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AEAA08E-A42F-43C1-8CB5-7FC293197468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Downloading the ZIP file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9C14B2-E603-4FB4-94EE-F48EE4A88BE0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 latinLnBrk="0">
              <a:def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B3F279-2713-44F2-A20B-CCB456CECF15}"/>
              </a:ext>
            </a:extLst>
          </p:cNvPr>
          <p:cNvSpPr>
            <a:spLocks noGrp="1"/>
          </p:cNvSpPr>
          <p:nvPr/>
        </p:nvSpPr>
        <p:spPr>
          <a:xfrm>
            <a:off x="762000" y="1476375"/>
            <a:ext cx="68580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DF"/>
            </a:solidFill>
          </a:ln>
        </p:spPr>
        <p:txBody>
          <a:bodyPr anchor="t">
            <a:noAutofit/>
          </a:bodyPr>
          <a:lstStyle/>
          <a:p>
            <a:pPr algn="l" latinLnBrk="0">
              <a:def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request = Request(</a:t>
            </a:r>
          </a:p>
          <a:p>
            <a:pPr algn="l" latinLnBrk="0">
              <a:def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    DATA_URL,</a:t>
            </a:r>
          </a:p>
          <a:p>
            <a:pPr algn="l" latinLnBrk="0">
              <a:def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    headers={"User-Agent": "Mozilla/5.0"}</a:t>
            </a:r>
          </a:p>
          <a:p>
            <a:pPr algn="l" latinLnBrk="0">
              <a:def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 latinLnBrk="0"/>
            <a:endParaRPr sz="1725" b="0">
              <a:solidFill>
                <a:srgbClr val="17212B"/>
              </a:solidFill>
              <a:latin typeface="Aptos Mono"/>
              <a:ea typeface="Aptos Mono"/>
              <a:cs typeface="Aptos Mono"/>
            </a:endParaRPr>
          </a:p>
          <a:p>
            <a:pPr algn="l" latinLnBrk="0">
              <a:def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with urlopen(request, timeout=120) as response:</a:t>
            </a:r>
          </a:p>
          <a:p>
            <a:pPr algn="l" latinLnBrk="0">
              <a:def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    zip_bytes = response.read()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12A071-22D7-42BA-BCB4-C73E12A1861A}"/>
              </a:ext>
            </a:extLst>
          </p:cNvPr>
          <p:cNvSpPr>
            <a:spLocks noGrp="1"/>
          </p:cNvSpPr>
          <p:nvPr/>
        </p:nvSpPr>
        <p:spPr>
          <a:xfrm>
            <a:off x="8096250" y="1762125"/>
            <a:ext cx="3238500" cy="1905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8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The with statement closes the connection automatically. The timeout prevents an indefinite wait.</a:t>
            </a:r>
          </a:p>
        </p:txBody>
      </p:sp>
    </p:spTree>
    <p:extLst>
      <p:ext uri="{BB962C8B-B14F-4D97-AF65-F5344CB8AC3E}">
        <p14:creationId xmlns:p14="http://schemas.microsoft.com/office/powerpoint/2010/main" val="178288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1592EE57-2827-43F3-AC3A-66CA1B6BB59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KEY PYTHON SYNTAX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5EA392B-D621-4A0E-9F9E-739FFCFE37C6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Reading the CSV from memory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C5951CA-6E02-445C-9865-4F83CC220230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EE7433-8A42-4F70-B7DB-35E659E0B80E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733425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DF"/>
            </a:solidFill>
          </a:ln>
        </p:spPr>
        <p:txBody>
          <a:bodyPr anchor="t">
            <a:noAutofit/>
          </a:bodyPr>
          <a:lstStyle/>
          <a:p>
            <a:pPr algn="l">
              <a:defRPr sz="1800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with ZipFile(BytesIO(zip_bytes)) as archive:</a:t>
            </a:r>
          </a:p>
          <a:p>
            <a:pPr algn="l">
              <a:defRPr sz="1800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    with archive.open(CSV_NAME) as csv_file:</a:t>
            </a:r>
          </a:p>
          <a:p>
            <a:pPr algn="l">
              <a:defRPr sz="1800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        raw = pd.read_csv(csv_file)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F36403B-A2B2-4CD7-B242-9A178B3A691A}"/>
              </a:ext>
            </a:extLst>
          </p:cNvPr>
          <p:cNvSpPr>
            <a:spLocks noGrp="1"/>
          </p:cNvSpPr>
          <p:nvPr/>
        </p:nvSpPr>
        <p:spPr>
          <a:xfrm>
            <a:off x="8477250" y="1666875"/>
            <a:ext cx="2857500" cy="2286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 algn="l">
              <a:spcAft>
                <a:spcPts val="800"/>
              </a:spcAft>
              <a:buChar char="•"/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No manual extraction</a:t>
            </a:r>
          </a:p>
          <a:p>
            <a:pPr marL="228600" indent="-114300" algn="l">
              <a:spcAft>
                <a:spcPts val="800"/>
              </a:spcAft>
              <a:buChar char="•"/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No temporary ZIP folder</a:t>
            </a:r>
          </a:p>
          <a:p>
            <a:pPr marL="228600" indent="-114300" algn="l">
              <a:spcAft>
                <a:spcPts val="800"/>
              </a:spcAft>
              <a:buChar char="•"/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One DataFrame contains all quarters and series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33F2EC-DEED-4D96-BA47-514FA149B849}"/>
              </a:ext>
            </a:extLst>
          </p:cNvPr>
          <p:cNvSpPr>
            <a:spLocks noGrp="1"/>
          </p:cNvSpPr>
          <p:nvPr/>
        </p:nvSpPr>
        <p:spPr>
          <a:xfrm>
            <a:off x="762000" y="4429125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Result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7A3CB6-B139-4361-8899-EC374854A7EC}"/>
              </a:ext>
            </a:extLst>
          </p:cNvPr>
          <p:cNvSpPr>
            <a:spLocks noGrp="1"/>
          </p:cNvSpPr>
          <p:nvPr/>
        </p:nvSpPr>
        <p:spPr>
          <a:xfrm>
            <a:off x="762000" y="4857750"/>
            <a:ext cx="99060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Each row is a quarter. Each data column is a Federal Reserve series.</a:t>
            </a:r>
          </a:p>
        </p:txBody>
      </p:sp>
    </p:spTree>
    <p:extLst>
      <p:ext uri="{BB962C8B-B14F-4D97-AF65-F5344CB8AC3E}">
        <p14:creationId xmlns:p14="http://schemas.microsoft.com/office/powerpoint/2010/main" val="1852864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1AF8B7C4-72E7-4311-A0EC-CE1465A0AD2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KEY PYTHON SYNTAX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6921B48-DBD2-4944-8710-15FF1BB1B6A4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Mapping series codes to accounts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4C2A5F3-1174-4DC9-A8B1-0B088184F4E2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 latinLnBrk="0">
              <a:def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F204545-925B-4072-A86B-0646D446BD7E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66675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DF"/>
            </a:solidFill>
          </a:ln>
        </p:spPr>
        <p:txBody>
          <a:bodyPr anchor="t">
            <a:noAutofit/>
          </a:bodyPr>
          <a:lstStyle/>
          <a:p>
            <a:pPr algn="l" latinLnBrk="0">
              <a:defRPr sz="1500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SERIES = {</a:t>
            </a:r>
          </a:p>
          <a:p>
            <a:pPr algn="l" latinLnBrk="0">
              <a:defRPr sz="1500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  "Total assets": "FL152000005.Q",</a:t>
            </a:r>
          </a:p>
          <a:p>
            <a:pPr algn="l" latinLnBrk="0">
              <a:defRPr sz="1500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  "Financial assets": "FL154090005.Q",</a:t>
            </a:r>
          </a:p>
          <a:p>
            <a:pPr algn="l" latinLnBrk="0">
              <a:defRPr sz="1500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  "Deposits": "FL154000025.Q",</a:t>
            </a:r>
          </a:p>
          <a:p>
            <a:pPr algn="l" latinLnBrk="0">
              <a:defRPr sz="1500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  "Directly held corporate equities":</a:t>
            </a:r>
          </a:p>
          <a:p>
            <a:pPr algn="l" latinLnBrk="0">
              <a:defRPr sz="1500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      "LM153064105.Q",</a:t>
            </a:r>
          </a:p>
          <a:p>
            <a:pPr algn="l" latinLnBrk="0">
              <a:defRPr sz="1500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  "Total liabilities": "FL154190005.Q",</a:t>
            </a:r>
          </a:p>
          <a:p>
            <a:pPr algn="l" latinLnBrk="0">
              <a:defRPr sz="1500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  "Net worth": "FL152090005.Q",</a:t>
            </a:r>
          </a:p>
          <a:p>
            <a:pPr algn="l" latinLnBrk="0">
              <a:defRPr sz="1500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B8FA50C-E013-4931-B5EB-C125B8644417}"/>
              </a:ext>
            </a:extLst>
          </p:cNvPr>
          <p:cNvSpPr>
            <a:spLocks noGrp="1"/>
          </p:cNvSpPr>
          <p:nvPr/>
        </p:nvSpPr>
        <p:spPr>
          <a:xfrm>
            <a:off x="7953375" y="1809750"/>
            <a:ext cx="32385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8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A Python dictionary connects a readable account name to each official series code.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09F44BE-A341-4714-8162-D5ECAA87B594}"/>
              </a:ext>
            </a:extLst>
          </p:cNvPr>
          <p:cNvSpPr>
            <a:spLocks noGrp="1"/>
          </p:cNvSpPr>
          <p:nvPr/>
        </p:nvSpPr>
        <p:spPr>
          <a:xfrm>
            <a:off x="7953375" y="3762375"/>
            <a:ext cx="32385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650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rPr>
              <a:t>This design keeps the calculations readable without changing the source identifiers.</a:t>
            </a:r>
          </a:p>
        </p:txBody>
      </p:sp>
    </p:spTree>
    <p:extLst>
      <p:ext uri="{BB962C8B-B14F-4D97-AF65-F5344CB8AC3E}">
        <p14:creationId xmlns:p14="http://schemas.microsoft.com/office/powerpoint/2010/main" val="32752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98E18186-8886-49A7-B541-FBDB28CE69E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KEY PYTHON SYNTAX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B7BA034-EC82-420E-80E6-15C8B6EB7848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Selecting the 2026:Q1 observation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B545D1D-31FB-4648-96B1-3CFFD74BBB0D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 latinLnBrk="0">
              <a:def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CC038D0-6974-4DEF-9C3F-C6484C9A4740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72390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DF"/>
            </a:solidFill>
          </a:ln>
        </p:spPr>
        <p:txBody>
          <a:bodyPr anchor="t">
            <a:noAutofit/>
          </a:bodyPr>
          <a:lstStyle/>
          <a:p>
            <a:pPr algn="l" latinLnBrk="0">
              <a:def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selected = raw.loc[raw["date"] == TARGET_QUARTER]</a:t>
            </a:r>
          </a:p>
          <a:p>
            <a:pPr latinLnBrk="0"/>
            <a:endParaRPr sz="1725" b="0">
              <a:solidFill>
                <a:srgbClr val="17212B"/>
              </a:solidFill>
              <a:latin typeface="Aptos Mono"/>
              <a:ea typeface="Aptos Mono"/>
              <a:cs typeface="Aptos Mono"/>
            </a:endParaRPr>
          </a:p>
          <a:p>
            <a:pPr algn="l" latinLnBrk="0">
              <a:def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if len(selected) != 1:</a:t>
            </a:r>
          </a:p>
          <a:p>
            <a:pPr algn="l" latinLnBrk="0">
              <a:def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    raise RuntimeError("Expected one observation")</a:t>
            </a:r>
          </a:p>
          <a:p>
            <a:pPr latinLnBrk="0"/>
            <a:endParaRPr sz="1725" b="0">
              <a:solidFill>
                <a:srgbClr val="17212B"/>
              </a:solidFill>
              <a:latin typeface="Aptos Mono"/>
              <a:ea typeface="Aptos Mono"/>
              <a:cs typeface="Aptos Mono"/>
            </a:endParaRPr>
          </a:p>
          <a:p>
            <a:pPr algn="l" latinLnBrk="0">
              <a:def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observation = selected.iloc[0]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FE50EA7-3531-4C75-B827-9CCF825853ED}"/>
              </a:ext>
            </a:extLst>
          </p:cNvPr>
          <p:cNvSpPr>
            <a:spLocks noGrp="1"/>
          </p:cNvSpPr>
          <p:nvPr/>
        </p:nvSpPr>
        <p:spPr>
          <a:xfrm>
            <a:off x="8334375" y="1619250"/>
            <a:ext cx="3048000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 algn="l" latinLnBrk="0">
              <a:spcAft>
                <a:spcPts val="800"/>
              </a:spcAft>
              <a:buChar char="•"/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Boolean selection keeps only 2026:Q1</a:t>
            </a:r>
          </a:p>
          <a:p>
            <a:pPr marL="228600" indent="-114300" algn="l" latinLnBrk="0">
              <a:spcAft>
                <a:spcPts val="800"/>
              </a:spcAft>
              <a:buChar char="•"/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len confirms that exactly one row was found</a:t>
            </a:r>
          </a:p>
          <a:p>
            <a:pPr marL="228600" indent="-114300" algn="l" latinLnBrk="0">
              <a:spcAft>
                <a:spcPts val="800"/>
              </a:spcAft>
              <a:buChar char="•"/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iloc[0] converts the selected row into a Series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F09252F-CF8C-4EEE-9044-594662801397}"/>
              </a:ext>
            </a:extLst>
          </p:cNvPr>
          <p:cNvSpPr>
            <a:spLocks noGrp="1"/>
          </p:cNvSpPr>
          <p:nvPr/>
        </p:nvSpPr>
        <p:spPr>
          <a:xfrm>
            <a:off x="714375" y="5095875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650" b="1">
                <a:solidFill>
                  <a:srgbClr val="2E7D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altLang="ko-KR" sz="1650" b="1" dirty="0" smtClean="0">
                <a:solidFill>
                  <a:srgbClr val="2E7D65"/>
                </a:solidFill>
                <a:latin typeface="Bitstream Charter"/>
                <a:ea typeface="Bitstream Charter"/>
                <a:cs typeface="Bitstream Charter"/>
              </a:rPr>
              <a:t>Th</a:t>
            </a:r>
            <a:r>
              <a:rPr sz="1650" b="1" dirty="0" smtClean="0">
                <a:solidFill>
                  <a:srgbClr val="2E7D65"/>
                </a:solidFill>
                <a:latin typeface="Bitstream Charter"/>
                <a:ea typeface="Bitstream Charter"/>
                <a:cs typeface="Bitstream Charter"/>
              </a:rPr>
              <a:t>is </a:t>
            </a:r>
            <a:r>
              <a:rPr sz="1650" b="1" dirty="0">
                <a:solidFill>
                  <a:srgbClr val="2E7D65"/>
                </a:solidFill>
                <a:latin typeface="Bitstream Charter"/>
                <a:ea typeface="Bitstream Charter"/>
                <a:cs typeface="Bitstream Charter"/>
              </a:rPr>
              <a:t>program does not create quarter columns or compare observations over time.</a:t>
            </a:r>
          </a:p>
        </p:txBody>
      </p:sp>
    </p:spTree>
    <p:extLst>
      <p:ext uri="{BB962C8B-B14F-4D97-AF65-F5344CB8AC3E}">
        <p14:creationId xmlns:p14="http://schemas.microsoft.com/office/powerpoint/2010/main" val="482079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80B8B96-8566-44BC-B614-7E94A4CCA20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KEY PYTHON SYNTAX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12C3A0-99E1-40B8-9A79-60C316F2CA9E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Constructing the balance-sheet table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4A585CF-15E7-457C-99AD-0233F097F268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 latinLnBrk="0">
              <a:def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CB4C0F-B7AE-4F98-808E-5416882270BF}"/>
              </a:ext>
            </a:extLst>
          </p:cNvPr>
          <p:cNvSpPr>
            <a:spLocks noGrp="1"/>
          </p:cNvSpPr>
          <p:nvPr/>
        </p:nvSpPr>
        <p:spPr>
          <a:xfrm>
            <a:off x="619125" y="1285875"/>
            <a:ext cx="752475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DF"/>
            </a:solidFill>
          </a:ln>
        </p:spPr>
        <p:txBody>
          <a:bodyPr anchor="t">
            <a:noAutofit/>
          </a:bodyPr>
          <a:lstStyle/>
          <a:p>
            <a:pPr algn="l" latinLnBrk="0">
              <a:def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balance_sheet = pd.DataFrame({</a:t>
            </a:r>
          </a:p>
          <a:p>
            <a:pPr algn="l" latinLnBrk="0">
              <a:def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  "Series code": SERIES,</a:t>
            </a:r>
          </a:p>
          <a:p>
            <a:pPr algn="l" latinLnBrk="0">
              <a:def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  "Amount ($ millions)": {</a:t>
            </a:r>
          </a:p>
          <a:p>
            <a:pPr algn="l" latinLnBrk="0">
              <a:def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      account: observation[code]</a:t>
            </a:r>
          </a:p>
          <a:p>
            <a:pPr algn="l" latinLnBrk="0">
              <a:def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      for account, code in SERIES.items()</a:t>
            </a:r>
          </a:p>
          <a:p>
            <a:pPr algn="l" latinLnBrk="0">
              <a:def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  }</a:t>
            </a:r>
          </a:p>
          <a:p>
            <a:pPr algn="l" latinLnBrk="0">
              <a:def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})</a:t>
            </a:r>
          </a:p>
          <a:p>
            <a:pPr latinLnBrk="0"/>
            <a:endParaRPr sz="1425" b="0">
              <a:solidFill>
                <a:srgbClr val="17212B"/>
              </a:solidFill>
              <a:latin typeface="Aptos Mono"/>
              <a:ea typeface="Aptos Mono"/>
              <a:cs typeface="Aptos Mono"/>
            </a:endParaRPr>
          </a:p>
          <a:p>
            <a:pPr algn="l" latinLnBrk="0">
              <a:def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balance_sheet["Amount ($ billions)"] = (</a:t>
            </a:r>
          </a:p>
          <a:p>
            <a:pPr algn="l" latinLnBrk="0">
              <a:def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    balance_sheet["Amount ($ millions)"] / 1_000</a:t>
            </a:r>
          </a:p>
          <a:p>
            <a:pPr algn="l" latinLnBrk="0">
              <a:def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F6BD7E7-5B6E-4C52-A578-683890AC1AC1}"/>
              </a:ext>
            </a:extLst>
          </p:cNvPr>
          <p:cNvSpPr>
            <a:spLocks noGrp="1"/>
          </p:cNvSpPr>
          <p:nvPr/>
        </p:nvSpPr>
        <p:spPr>
          <a:xfrm>
            <a:off x="8572500" y="1619250"/>
            <a:ext cx="2857500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 algn="l" latinLnBrk="0">
              <a:spcAft>
                <a:spcPts val="800"/>
              </a:spcAft>
              <a:buChar char="•"/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The comprehension creates one value for each account</a:t>
            </a:r>
          </a:p>
          <a:p>
            <a:pPr marL="228600" indent="-114300" algn="l" latinLnBrk="0">
              <a:spcAft>
                <a:spcPts val="800"/>
              </a:spcAft>
              <a:buChar char="•"/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The DataFrame places accounts in rows</a:t>
            </a:r>
          </a:p>
          <a:p>
            <a:pPr marL="228600" indent="-114300" algn="l" latinLnBrk="0">
              <a:spcAft>
                <a:spcPts val="800"/>
              </a:spcAft>
              <a:buChar char="•"/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Division by 1,000 converts millions to billions</a:t>
            </a:r>
          </a:p>
        </p:txBody>
      </p:sp>
    </p:spTree>
    <p:extLst>
      <p:ext uri="{BB962C8B-B14F-4D97-AF65-F5344CB8AC3E}">
        <p14:creationId xmlns:p14="http://schemas.microsoft.com/office/powerpoint/2010/main" val="131531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A6B08105-F03A-4FDD-A6F9-8F38D2D8DDD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CODE LOGIC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30D3A4C-12EA-4E9D-880F-B1EA4F316CAE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Accounting validation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6427A34-1D71-49C3-B5A6-83662E4720A2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 latinLnBrk="0">
              <a:def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C110FD-9D3E-46A8-B7D0-97E27C4CE6C1}"/>
              </a:ext>
            </a:extLst>
          </p:cNvPr>
          <p:cNvSpPr>
            <a:spLocks noGrp="1"/>
          </p:cNvSpPr>
          <p:nvPr/>
        </p:nvSpPr>
        <p:spPr>
          <a:xfrm>
            <a:off x="762000" y="1476375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Asset classification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CD9750-E548-48BB-A114-36368172B15A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5720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8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Total assets = Financial assets + Nonfinancial assets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9B3D10-3CA3-49C3-904B-E3E264A9D6B0}"/>
              </a:ext>
            </a:extLst>
          </p:cNvPr>
          <p:cNvSpPr>
            <a:spLocks noGrp="1"/>
          </p:cNvSpPr>
          <p:nvPr/>
        </p:nvSpPr>
        <p:spPr>
          <a:xfrm>
            <a:off x="6572250" y="1476375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Net worth identity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AC1FC0-7518-4CBF-A6DC-77E6A0AF3056}"/>
              </a:ext>
            </a:extLst>
          </p:cNvPr>
          <p:cNvSpPr>
            <a:spLocks noGrp="1"/>
          </p:cNvSpPr>
          <p:nvPr/>
        </p:nvSpPr>
        <p:spPr>
          <a:xfrm>
            <a:off x="6572250" y="1952625"/>
            <a:ext cx="45720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8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Total assets = Total liabilities + Net worth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C063A3F-0EEA-475F-A97C-1637EE377E0D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Liability detail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307C9F2-69FB-4454-A246-65005CF73ABC}"/>
              </a:ext>
            </a:extLst>
          </p:cNvPr>
          <p:cNvSpPr>
            <a:spLocks noGrp="1"/>
          </p:cNvSpPr>
          <p:nvPr/>
        </p:nvSpPr>
        <p:spPr>
          <a:xfrm>
            <a:off x="762000" y="4000500"/>
            <a:ext cx="6191250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8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Total liabilities = Home mortgages + Consumer credit + Other liabilities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58EAB62-2B94-4F31-BF89-3ECD79DC9A6A}"/>
              </a:ext>
            </a:extLst>
          </p:cNvPr>
          <p:cNvSpPr>
            <a:spLocks noGrp="1"/>
          </p:cNvSpPr>
          <p:nvPr/>
        </p:nvSpPr>
        <p:spPr>
          <a:xfrm>
            <a:off x="762000" y="552450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725" b="1">
                <a:solidFill>
                  <a:srgbClr val="2E7D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2E7D65"/>
                </a:solidFill>
                <a:latin typeface="Bitstream Charter"/>
                <a:ea typeface="Bitstream Charter"/>
                <a:cs typeface="Bitstream Charter"/>
              </a:rPr>
              <a:t>All three identities pass with a zero difference in the published million-dollar data.</a:t>
            </a:r>
          </a:p>
        </p:txBody>
      </p:sp>
    </p:spTree>
    <p:extLst>
      <p:ext uri="{BB962C8B-B14F-4D97-AF65-F5344CB8AC3E}">
        <p14:creationId xmlns:p14="http://schemas.microsoft.com/office/powerpoint/2010/main" val="2122918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6729C20-7290-4C4D-B14E-9688341A599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KEY OUTPUT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D1005D3-55F2-468A-A193-15910DA04C23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2026:Q1 aggregate balance sheet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12D7DE7-F6AE-4E8F-9CC7-3B701C384C08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rPr>
              <a:t>13</a:t>
            </a:r>
          </a:p>
        </p:txBody>
      </p:sp>
      <p:graphicFrame>
        <p:nvGraphicFramePr>
          <p:cNvPr id="12" name="표 11"/>
          <p:cNvGraphicFramePr/>
          <p:nvPr/>
        </p:nvGraphicFramePr>
        <p:xfrm>
          <a:off x="904875" y="1428750"/>
          <a:ext cx="7810500" cy="3667128"/>
        </p:xfrm>
        <a:graphic>
          <a:graphicData uri="http://schemas.openxmlformats.org/drawingml/2006/table">
            <a:tbl>
              <a:tblPr firstRow="1" bandRow="1"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1188">
                <a:tc>
                  <a:txBody>
                    <a:bodyPr/>
                    <a:lstStyle/>
                    <a:p>
                      <a:r>
                        <a:t>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 billions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 of assets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r>
                        <a:t>Total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204,671.7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r>
                        <a:t>Financial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141,781.1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r>
                        <a:t>Nonfinancial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62,890.6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r>
                        <a:t>Total liabilities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21,604.6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r>
                        <a:t>Net worth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183,067.1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86E3894D-9E03-4715-876F-D56903E69F25}"/>
              </a:ext>
            </a:extLst>
          </p:cNvPr>
          <p:cNvSpPr>
            <a:spLocks noGrp="1"/>
          </p:cNvSpPr>
          <p:nvPr/>
        </p:nvSpPr>
        <p:spPr>
          <a:xfrm>
            <a:off x="9239250" y="18097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4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$204.7T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2102C67-E4AD-4E44-8E6C-71675F453C45}"/>
              </a:ext>
            </a:extLst>
          </p:cNvPr>
          <p:cNvSpPr>
            <a:spLocks noGrp="1"/>
          </p:cNvSpPr>
          <p:nvPr/>
        </p:nvSpPr>
        <p:spPr>
          <a:xfrm>
            <a:off x="9239250" y="242887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rPr>
              <a:t>total assets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E9B3F4E-A2DE-4C02-BCE2-391AEEC6FC87}"/>
              </a:ext>
            </a:extLst>
          </p:cNvPr>
          <p:cNvSpPr>
            <a:spLocks noGrp="1"/>
          </p:cNvSpPr>
          <p:nvPr/>
        </p:nvSpPr>
        <p:spPr>
          <a:xfrm>
            <a:off x="9239250" y="37147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450" b="1">
                <a:solidFill>
                  <a:srgbClr val="2E7D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2E7D65"/>
                </a:solidFill>
                <a:latin typeface="Bitstream Charter"/>
                <a:ea typeface="Bitstream Charter"/>
                <a:cs typeface="Bitstream Charter"/>
              </a:rPr>
              <a:t>$183.1T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EF8FBA6-8722-49B1-82A7-7677ADDBE584}"/>
              </a:ext>
            </a:extLst>
          </p:cNvPr>
          <p:cNvSpPr>
            <a:spLocks noGrp="1"/>
          </p:cNvSpPr>
          <p:nvPr/>
        </p:nvSpPr>
        <p:spPr>
          <a:xfrm>
            <a:off x="9239250" y="433387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rPr>
              <a:t>net worth</a:t>
            </a:r>
          </a:p>
        </p:txBody>
      </p:sp>
    </p:spTree>
    <p:extLst>
      <p:ext uri="{BB962C8B-B14F-4D97-AF65-F5344CB8AC3E}">
        <p14:creationId xmlns:p14="http://schemas.microsoft.com/office/powerpoint/2010/main" val="871385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3BE2ADBB-6F66-4054-9E14-14750F2B71C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FINDINGS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B0B7140-9ABF-4A6A-8E7C-9ADD756444A1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Financial assets represent 69.3% of total assets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53F9D00-9A87-4D76-B0B9-9BCAAED326D9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rPr>
              <a:t>14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904875" y="1476375"/>
          <a:ext cx="7239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8DC58C09-1567-4316-94C2-FA1260EEB896}"/>
              </a:ext>
            </a:extLst>
          </p:cNvPr>
          <p:cNvSpPr>
            <a:spLocks noGrp="1"/>
          </p:cNvSpPr>
          <p:nvPr/>
        </p:nvSpPr>
        <p:spPr>
          <a:xfrm>
            <a:off x="8763000" y="2047875"/>
            <a:ext cx="2571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Financial assets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794CBB0-CA0D-48F6-877D-F22E7A346FD4}"/>
              </a:ext>
            </a:extLst>
          </p:cNvPr>
          <p:cNvSpPr>
            <a:spLocks noGrp="1"/>
          </p:cNvSpPr>
          <p:nvPr/>
        </p:nvSpPr>
        <p:spPr>
          <a:xfrm>
            <a:off x="8763000" y="2476500"/>
            <a:ext cx="25717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4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$141.8T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CC42C6-FADB-4C0F-B4AD-6F72B3C6BBA1}"/>
              </a:ext>
            </a:extLst>
          </p:cNvPr>
          <p:cNvSpPr>
            <a:spLocks noGrp="1"/>
          </p:cNvSpPr>
          <p:nvPr/>
        </p:nvSpPr>
        <p:spPr>
          <a:xfrm>
            <a:off x="8763000" y="3857625"/>
            <a:ext cx="2571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D6A8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D6A84B"/>
                </a:solidFill>
                <a:latin typeface="Bitstream Charter"/>
                <a:ea typeface="Bitstream Charter"/>
                <a:cs typeface="Bitstream Charter"/>
              </a:rPr>
              <a:t>Nonfinancial assets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080F13C-29B9-40A3-9A59-E20B77A52EAB}"/>
              </a:ext>
            </a:extLst>
          </p:cNvPr>
          <p:cNvSpPr>
            <a:spLocks noGrp="1"/>
          </p:cNvSpPr>
          <p:nvPr/>
        </p:nvSpPr>
        <p:spPr>
          <a:xfrm>
            <a:off x="8763000" y="4286250"/>
            <a:ext cx="25717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4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$62.9T</a:t>
            </a:r>
          </a:p>
        </p:txBody>
      </p:sp>
    </p:spTree>
    <p:extLst>
      <p:ext uri="{BB962C8B-B14F-4D97-AF65-F5344CB8AC3E}">
        <p14:creationId xmlns:p14="http://schemas.microsoft.com/office/powerpoint/2010/main" val="1081212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A4FD49D-E73D-4EF8-929D-A66DE7D3370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FINDINGS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A436D3B-71FB-4D45-BCA3-E85F3AD6A1E8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Corporate equities are the largest financial asset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7103059-70FA-4C94-B325-DC6595C83DD8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rPr>
              <a:t>15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="714375" y="1333500"/>
          <a:ext cx="10287000" cy="433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93EE1102-4048-41E2-AA0A-840727746E0A}"/>
              </a:ext>
            </a:extLst>
          </p:cNvPr>
          <p:cNvSpPr>
            <a:spLocks noGrp="1"/>
          </p:cNvSpPr>
          <p:nvPr/>
        </p:nvSpPr>
        <p:spPr>
          <a:xfrm>
            <a:off x="762000" y="5857875"/>
            <a:ext cx="100965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2E7D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2E7D65"/>
                </a:solidFill>
                <a:latin typeface="Bitstream Charter"/>
                <a:ea typeface="Bitstream Charter"/>
                <a:cs typeface="Bitstream Charter"/>
              </a:rPr>
              <a:t>Directly held corporate equities account for $44.0 trillion, or 21.5% of total assets.</a:t>
            </a:r>
          </a:p>
        </p:txBody>
      </p:sp>
    </p:spTree>
    <p:extLst>
      <p:ext uri="{BB962C8B-B14F-4D97-AF65-F5344CB8AC3E}">
        <p14:creationId xmlns:p14="http://schemas.microsoft.com/office/powerpoint/2010/main" val="1490321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64432ECC-FEBD-4C15-B39C-CFD2794E058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FINDINGS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D19801C-70CE-41F0-BA55-40C1F12340FB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Home mortgages dominate household liabilities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3D91DE1-6AAA-44D7-A95D-1580F78E51FB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rPr>
              <a:t>16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952500" y="1381125"/>
          <a:ext cx="600075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1C0FA56B-A8DD-4B1F-B2A2-51578D5EF128}"/>
              </a:ext>
            </a:extLst>
          </p:cNvPr>
          <p:cNvSpPr>
            <a:spLocks noGrp="1"/>
          </p:cNvSpPr>
          <p:nvPr/>
        </p:nvSpPr>
        <p:spPr>
          <a:xfrm>
            <a:off x="8001000" y="1714500"/>
            <a:ext cx="285750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600" b="1">
                <a:solidFill>
                  <a:srgbClr val="B44C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B44C4C"/>
                </a:solidFill>
                <a:latin typeface="Bitstream Charter"/>
                <a:ea typeface="Bitstream Charter"/>
                <a:cs typeface="Bitstream Charter"/>
              </a:rPr>
              <a:t>$21.6T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9C83F9-FCAB-4AD5-A026-C24FFC9245A3}"/>
              </a:ext>
            </a:extLst>
          </p:cNvPr>
          <p:cNvSpPr>
            <a:spLocks noGrp="1"/>
          </p:cNvSpPr>
          <p:nvPr/>
        </p:nvSpPr>
        <p:spPr>
          <a:xfrm>
            <a:off x="8001000" y="2333625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rPr>
              <a:t>total liabilities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02D550C-F586-4A90-B34B-000377823BB7}"/>
              </a:ext>
            </a:extLst>
          </p:cNvPr>
          <p:cNvSpPr>
            <a:spLocks noGrp="1"/>
          </p:cNvSpPr>
          <p:nvPr/>
        </p:nvSpPr>
        <p:spPr>
          <a:xfrm>
            <a:off x="8001000" y="3476625"/>
            <a:ext cx="285750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6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64.0%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7E548DD-3ED9-4EF5-8C52-7C21456273D4}"/>
              </a:ext>
            </a:extLst>
          </p:cNvPr>
          <p:cNvSpPr>
            <a:spLocks noGrp="1"/>
          </p:cNvSpPr>
          <p:nvPr/>
        </p:nvSpPr>
        <p:spPr>
          <a:xfrm>
            <a:off x="8001000" y="40957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rPr>
              <a:t>home-mortgage share</a:t>
            </a:r>
          </a:p>
        </p:txBody>
      </p:sp>
    </p:spTree>
    <p:extLst>
      <p:ext uri="{BB962C8B-B14F-4D97-AF65-F5344CB8AC3E}">
        <p14:creationId xmlns:p14="http://schemas.microsoft.com/office/powerpoint/2010/main" val="1597338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6CFE9943-4CE4-4786-A80E-B5E45D18CA9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INTERPRETATION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B24171E-ACC2-42A3-88BA-8D1D2433890C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Interpretation of the 2026:Q1 balance sheet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02DE99D-2E15-402F-A436-FB633363E5E3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 latinLnBrk="0">
              <a:def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rPr>
              <a:t>17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16B19C3-2D8E-4126-AAF8-F21FAE61A1FC}"/>
              </a:ext>
            </a:extLst>
          </p:cNvPr>
          <p:cNvSpPr>
            <a:spLocks noGrp="1"/>
          </p:cNvSpPr>
          <p:nvPr/>
        </p:nvSpPr>
        <p:spPr>
          <a:xfrm>
            <a:off x="762000" y="147637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8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Asset structure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7A5E575-77CF-4E56-967B-B030D8EF3EE6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4762500" cy="2381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 algn="l" latinLnBrk="0">
              <a:spcAft>
                <a:spcPts val="800"/>
              </a:spcAft>
              <a:buChar char="•"/>
              <a:def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Financial assets account for 69.3% of total assets</a:t>
            </a:r>
          </a:p>
          <a:p>
            <a:pPr marL="228600" indent="-114300" algn="l" latinLnBrk="0">
              <a:spcAft>
                <a:spcPts val="800"/>
              </a:spcAft>
              <a:buChar char="•"/>
              <a:def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Directly held corporate equities are the largest financial category</a:t>
            </a:r>
          </a:p>
          <a:p>
            <a:pPr marL="228600" indent="-114300" algn="l" latinLnBrk="0">
              <a:spcAft>
                <a:spcPts val="800"/>
              </a:spcAft>
              <a:buChar char="•"/>
              <a:def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Real estate is the largest nonfinancial category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CF420C4-C5F9-46CB-8FC1-064D170AAAA1}"/>
              </a:ext>
            </a:extLst>
          </p:cNvPr>
          <p:cNvSpPr>
            <a:spLocks noGrp="1"/>
          </p:cNvSpPr>
          <p:nvPr/>
        </p:nvSpPr>
        <p:spPr>
          <a:xfrm>
            <a:off x="6381750" y="147637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8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Financial position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D4C10F-F0C5-4400-9D72-0617BDEF7CD3}"/>
              </a:ext>
            </a:extLst>
          </p:cNvPr>
          <p:cNvSpPr>
            <a:spLocks noGrp="1"/>
          </p:cNvSpPr>
          <p:nvPr/>
        </p:nvSpPr>
        <p:spPr>
          <a:xfrm>
            <a:off x="6381750" y="2000250"/>
            <a:ext cx="4762500" cy="2381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 algn="l" latinLnBrk="0">
              <a:spcAft>
                <a:spcPts val="800"/>
              </a:spcAft>
              <a:buChar char="•"/>
              <a:def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Net worth equals 89.4% of total assets</a:t>
            </a:r>
          </a:p>
          <a:p>
            <a:pPr marL="228600" indent="-114300" algn="l" latinLnBrk="0">
              <a:spcAft>
                <a:spcPts val="800"/>
              </a:spcAft>
              <a:buChar char="•"/>
              <a:def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Liabilities equal 10.6% of total assets</a:t>
            </a:r>
          </a:p>
          <a:p>
            <a:pPr marL="228600" indent="-114300" algn="l" latinLnBrk="0">
              <a:spcAft>
                <a:spcPts val="800"/>
              </a:spcAft>
              <a:buChar char="•"/>
              <a:def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Home mortgages constitute 64.0% of liabilities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4F71F3-8F1F-4747-9D1C-229E52A005F1}"/>
              </a:ext>
            </a:extLst>
          </p:cNvPr>
          <p:cNvSpPr>
            <a:spLocks noGrp="1"/>
          </p:cNvSpPr>
          <p:nvPr/>
        </p:nvSpPr>
        <p:spPr>
          <a:xfrm>
            <a:off x="762000" y="5381625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725" b="1">
                <a:solidFill>
                  <a:srgbClr val="B44C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B44C4C"/>
                </a:solidFill>
                <a:latin typeface="Bitstream Charter"/>
                <a:ea typeface="Bitstream Charter"/>
                <a:cs typeface="Bitstream Charter"/>
              </a:rPr>
              <a:t>A one-quarter balance sheet describes composition and financial position. It does not measure growth or investment returns.</a:t>
            </a:r>
          </a:p>
        </p:txBody>
      </p:sp>
    </p:spTree>
    <p:extLst>
      <p:ext uri="{BB962C8B-B14F-4D97-AF65-F5344CB8AC3E}">
        <p14:creationId xmlns:p14="http://schemas.microsoft.com/office/powerpoint/2010/main" val="1282709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275530A7-EDAD-42F4-BF11-4A3739DF348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76B87"/>
                </a:solidFill>
                <a:latin typeface="Bitstream Charter"/>
                <a:ea typeface="Bitstream Charter"/>
                <a:cs typeface="Bitstream Charter"/>
              </a:rPr>
              <a:t>CONCLUSION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832B881-9188-40C1-AFEB-9656B835A456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Google Colab execution and output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553ACFC-4F51-4E20-A3C8-40D53E7B7A10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 latinLnBrk="0">
              <a:def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rPr>
              <a:t>18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B818A70-8E62-4F55-91BF-CA738926C994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34290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8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Run the program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0A1CC0-D850-43E8-B293-85A308F16A4F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9239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DF"/>
            </a:solidFill>
          </a:ln>
        </p:spPr>
        <p:txBody>
          <a:bodyPr anchor="t">
            <a:noAutofit/>
          </a:bodyPr>
          <a:lstStyle/>
          <a:p>
            <a:pPr algn="l" latinLnBrk="0">
              <a:defRPr sz="1650" b="0">
                <a:solidFill>
                  <a:srgbClr val="176B87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76B87"/>
                </a:solidFill>
                <a:latin typeface="Aptos Mono"/>
                <a:ea typeface="Aptos Mono"/>
                <a:cs typeface="Aptos Mono"/>
              </a:rPr>
              <a:t>%run us_household_balance_sheet_2026q1.py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40CB8B5-BB1D-46C2-B351-DDEB31AF50F2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26670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8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CSV output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C758A2-FA32-4221-8D87-29F74B77621C}"/>
              </a:ext>
            </a:extLst>
          </p:cNvPr>
          <p:cNvSpPr>
            <a:spLocks noGrp="1"/>
          </p:cNvSpPr>
          <p:nvPr/>
        </p:nvSpPr>
        <p:spPr>
          <a:xfrm>
            <a:off x="762000" y="3667125"/>
            <a:ext cx="72390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57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us_household_balance_sheet_2026q1_output/</a:t>
            </a:r>
          </a:p>
          <a:p>
            <a:pPr algn="l" latinLnBrk="0">
              <a:defRPr sz="157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us_household_balance_sheet_2026q1.csv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881D69D-9B33-494B-9AC8-D6CCC99FCBD0}"/>
              </a:ext>
            </a:extLst>
          </p:cNvPr>
          <p:cNvSpPr>
            <a:spLocks noGrp="1"/>
          </p:cNvSpPr>
          <p:nvPr/>
        </p:nvSpPr>
        <p:spPr>
          <a:xfrm>
            <a:off x="762000" y="5095875"/>
            <a:ext cx="102870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 latinLnBrk="0">
              <a:defRPr sz="172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D6B78"/>
                </a:solidFill>
                <a:latin typeface="Bitstream Charter"/>
                <a:ea typeface="Bitstream Charter"/>
                <a:cs typeface="Bitstream Charter"/>
              </a:rPr>
              <a:t>The program retrieves current official data each time it runs, validates the accounting identities, prints the balance sheet, and saves the CSV file.</a:t>
            </a:r>
          </a:p>
        </p:txBody>
      </p:sp>
    </p:spTree>
    <p:extLst>
      <p:ext uri="{BB962C8B-B14F-4D97-AF65-F5344CB8AC3E}">
        <p14:creationId xmlns:p14="http://schemas.microsoft.com/office/powerpoint/2010/main" val="1337544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1022</Words>
  <Application>Microsoft Office PowerPoint</Application>
  <DocSecurity>0</DocSecurity>
  <PresentationFormat>와이드스크린</PresentationFormat>
  <Paragraphs>228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Aptos Mono</vt:lpstr>
      <vt:lpstr>Bitstream Charter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HOME</cp:lastModifiedBy>
  <cp:revision>2</cp:revision>
  <dcterms:created xsi:type="dcterms:W3CDTF">2026-09-20T07:17:24Z</dcterms:created>
  <dcterms:modified xsi:type="dcterms:W3CDTF">2026-09-20T07:24:52Z</dcterms:modified>
</cp:coreProperties>
</file>